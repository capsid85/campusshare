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822960"/>
            <a:ext cx="10362895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60A5FA"/>
                </a:solidFill>
              </a:defRPr>
            </a:pPr>
            <a:r>
              <a:t>DESIGN THINKING (HUM_4342) PROJECT PRESENTATION</a:t>
            </a:r>
          </a:p>
          <a:p>
            <a:pPr>
              <a:defRPr sz="4600" b="1">
                <a:solidFill>
                  <a:srgbClr val="FFFFFF"/>
                </a:solidFill>
              </a:defRPr>
            </a:pPr>
            <a:r>
              <a:t>CampusShare</a:t>
            </a:r>
          </a:p>
          <a:p>
            <a:pPr>
              <a:spcBef>
                <a:spcPts val="800"/>
              </a:spcBef>
              <a:defRPr sz="2000">
                <a:solidFill>
                  <a:srgbClr val="CBD5E1"/>
                </a:solidFill>
              </a:defRPr>
            </a:pPr>
            <a:r>
              <a:t>A Peer-to-Peer Campus Resource &amp; Academic Exchange Platform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Manipal Institute of Technology Bengaluru • Manipal Academy of Higher Education (MAHE)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4114800"/>
            <a:ext cx="493776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228600"/>
          <a:lstStyle/>
          <a:p>
            <a:pPr algn="ctr">
              <a:spcAft>
                <a:spcPts val="600"/>
              </a:spcAft>
              <a:defRPr b="1" sz="1150">
                <a:solidFill>
                  <a:srgbClr val="60A5FA"/>
                </a:solidFill>
              </a:defRPr>
            </a:pPr>
            <a:r>
              <a:t>PROJECT TEAM MEMBERS: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</a:defRPr>
            </a:pPr>
            <a:r>
              <a:t>1. Team Member 1 (Reg. No: 2309xxxxx)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</a:defRPr>
            </a:pPr>
            <a:r>
              <a:t>2. Team Member 2 (Reg. No: 2309xxxxx)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4114800"/>
            <a:ext cx="493776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228600"/>
          <a:lstStyle/>
          <a:p>
            <a:pPr algn="ctr">
              <a:spcAft>
                <a:spcPts val="600"/>
              </a:spcAft>
              <a:defRPr b="1" sz="1150">
                <a:solidFill>
                  <a:srgbClr val="60A5FA"/>
                </a:solidFill>
              </a:defRPr>
            </a:pPr>
            <a:r>
              <a:t>UNDER THE GUIDANCE OF: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</a:defRPr>
            </a:pPr>
            <a:r>
              <a:t>Dr. Vandana Jha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</a:defRPr>
            </a:pPr>
            <a:r>
              <a:t>Associate Professor, Department of Humanities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</a:defRPr>
            </a:pPr>
            <a:r>
              <a:t>Manipal Institute of Technology Bengaluru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</a:defRPr>
            </a:pPr>
            <a:r>
              <a:t>Manipal Academy of Higher Education (MAHE)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071E3"/>
                </a:solidFill>
              </a:defRPr>
            </a:pPr>
            <a:r>
              <a:t>TABLE OF CONTENTS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Executive Presentation 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91640"/>
            <a:ext cx="5257800" cy="13258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ctr">
              <a:spcAft>
                <a:spcPts val="400"/>
              </a:spcAft>
              <a:defRPr sz="1400" b="1">
                <a:solidFill>
                  <a:srgbClr val="2563EB"/>
                </a:solidFill>
              </a:defRPr>
            </a:pPr>
            <a:r>
              <a:t>01   Phase 0: Context &amp; Motivation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Campus resource friction, specialized tools, and commercial marketplace shortcomings.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200400"/>
            <a:ext cx="5257800" cy="13258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ctr">
              <a:spcAft>
                <a:spcPts val="400"/>
              </a:spcAft>
              <a:defRPr sz="1400" b="1">
                <a:solidFill>
                  <a:srgbClr val="2563EB"/>
                </a:solidFill>
              </a:defRPr>
            </a:pPr>
            <a:r>
              <a:t>02   Phase 1: Empathy &amp; Field Inquiry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Observational inquiry into student WhatsApp trading groups and customer journey mapping.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709160"/>
            <a:ext cx="5257800" cy="13258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ctr">
              <a:spcAft>
                <a:spcPts val="400"/>
              </a:spcAft>
              <a:defRPr sz="1400" b="1">
                <a:solidFill>
                  <a:srgbClr val="2563EB"/>
                </a:solidFill>
              </a:defRPr>
            </a:pPr>
            <a:r>
              <a:t>03   Phase 1: Define Problem Statement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Bounded human-centered problem definition, affected cohorts, and institutional drivers.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91640"/>
            <a:ext cx="5257800" cy="13258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ctr">
              <a:spcAft>
                <a:spcPts val="400"/>
              </a:spcAft>
              <a:defRPr sz="1400" b="1">
                <a:solidFill>
                  <a:srgbClr val="2563EB"/>
                </a:solidFill>
              </a:defRPr>
            </a:pPr>
            <a:r>
              <a:t>04   Phases 2 &amp; 3: Root Cause &amp; Solution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5-Whys root cause analysis, HMW opportunities, and multi-tier exchange formulation.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3200400"/>
            <a:ext cx="5257800" cy="13258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ctr">
              <a:spcAft>
                <a:spcPts val="400"/>
              </a:spcAft>
              <a:defRPr sz="1400" b="1">
                <a:solidFill>
                  <a:srgbClr val="2563EB"/>
                </a:solidFill>
              </a:defRPr>
            </a:pPr>
            <a:r>
              <a:t>05   Phase 4: Prototype &amp; Privacy System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Apple-grade web application, Zero-Knowledge Ghost Privacy, and direct on-spot UPI.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4709160"/>
            <a:ext cx="5257800" cy="13258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ctr">
              <a:spcAft>
                <a:spcPts val="400"/>
              </a:spcAft>
              <a:defRPr sz="1400" b="1">
                <a:solidFill>
                  <a:srgbClr val="2563EB"/>
                </a:solidFill>
              </a:defRPr>
            </a:pPr>
            <a:r>
              <a:t>06   Phase 4: Validation &amp; Future Scope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Peer walkthrough findings, anti-harassment comfort, version 2.0 roadmap, and learnings.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071E3"/>
                </a:solidFill>
              </a:defRPr>
            </a:pPr>
            <a:r>
              <a:t>PHASE 0: CONTEXT &amp; MOTIVATION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Introduction: The Campus Resource Dilemma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5166360" cy="47091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92608" bIns="292608"/>
          <a:lstStyle/>
          <a:p>
            <a:pPr algn="ctr">
              <a:spcAft>
                <a:spcPts val="1200"/>
              </a:spcAft>
              <a:defRPr sz="1600" b="1">
                <a:solidFill>
                  <a:srgbClr val="2563EB"/>
                </a:solidFill>
              </a:defRPr>
            </a:pPr>
            <a:r>
              <a:t>The High Cost of Single-Semester Academic Tools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Coursework Equipment Demands: Engineering students are required to procure specialized gear each semester (advanced math reference books, scientific calculators, chemistry aprons, and mini drafters).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Emergency Single-Use Friction: Critical tools are frequently required with little advance notice right before examinations or isolated practical vivas.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The Dormant Asset Problem: Once coursework ends, specialized instruments remain abandoned in hostel cupboards rather than circulating to juniors.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Compounding Financial Strain: Students face recurring out-of-pocket expenses purchasing brand-new supplies from commercial retail shops.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91072" y="1600200"/>
            <a:ext cx="5166360" cy="47091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92608" bIns="292608"/>
          <a:lstStyle/>
          <a:p>
            <a:pPr algn="ctr">
              <a:spcAft>
                <a:spcPts val="1200"/>
              </a:spcAft>
              <a:defRPr sz="1600" b="1">
                <a:solidFill>
                  <a:srgbClr val="2563EB"/>
                </a:solidFill>
              </a:defRPr>
            </a:pPr>
            <a:r>
              <a:t>The Untapped Senior Resource Pool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Hostel Storage Inefficiencies: Seniors across 3rd and 4th year possess functional calculators, drafting gear, and books with no easy transfer channel.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Informal Communication Decay: Announcements posted on general batch WhatsApp or Telegram chats rapidly submerge beneath hundreds of unrelated texts.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Commercial Marketplace Shortcomings: External e-commerce platforms incur heavy delivery fees, courier waiting periods, and expose students to strangers.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The Design Opportunity: A campus-exclusive, verified exchange platform enabling immediate, zero-fee physical handovers.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071E3"/>
                </a:solidFill>
              </a:defRPr>
            </a:pPr>
            <a:r>
              <a:t>BACKGROUND RESEARCH &amp; BENCHMARKING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Patent Search, Literature &amp; Product Review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5166360" cy="47091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92608" bIns="292608"/>
          <a:lstStyle/>
          <a:p>
            <a:pPr algn="ctr">
              <a:spcAft>
                <a:spcPts val="1200"/>
              </a:spcAft>
              <a:defRPr sz="1600" b="1">
                <a:solidFill>
                  <a:srgbClr val="2563EB"/>
                </a:solidFill>
              </a:defRPr>
            </a:pPr>
            <a:r>
              <a:t>Commercial &amp; Open Source Benchmarking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Academic Open-Source Audits: Benchmarked existing student exchange repositories, confirming strong student demand for local resource reuse.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Architectural Gap: Existing marketplace platforms focus almost exclusively on permanent resale, completely overlooking free semester borrowing and short-term examination rentals.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Commercial Classifieds (OLX, Amazon Used): Lack institutional domain verification, charge transaction commissions, and fail to prevent external fraud.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Privacy Hazards: External marketplaces expose students' personal phone numbers to unregulated public scrapers.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91072" y="1600200"/>
            <a:ext cx="5166360" cy="47091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92608" bIns="292608"/>
          <a:lstStyle/>
          <a:p>
            <a:pPr algn="ctr">
              <a:spcAft>
                <a:spcPts val="1200"/>
              </a:spcAft>
              <a:defRPr sz="1600" b="1">
                <a:solidFill>
                  <a:srgbClr val="2563EB"/>
                </a:solidFill>
              </a:defRPr>
            </a:pPr>
            <a:r>
              <a:t>Patent &amp; Academic Literature Insights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User Authentication Patents: Review of educational marketplace IP highlights that closed university email domains deliver significantly higher peer trust and completed exchanges.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Circular Campus Economy Studies: Published research confirms that structured textbook and instrument reuse materially reduces solid waste and production carbon footprint.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Core Design Synthesis: CampusShare bridges these limitations via a tri-modal framework (Free Borrow, Low-Cost Rent, Deep-Discount Purchase) tied to physical campus landmarks.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071E3"/>
                </a:solidFill>
              </a:defRPr>
            </a:pPr>
            <a:r>
              <a:t>PHASE 1: EMPATHY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Empathize Phase: Customer Journey Mapping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057400" cy="46634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01168" bIns="201168"/>
          <a:lstStyle/>
          <a:p>
            <a:pPr algn="ctr">
              <a:spcAft>
                <a:spcPts val="400"/>
              </a:spcAft>
              <a:defRPr sz="1350" b="1">
                <a:solidFill>
                  <a:srgbClr val="2563EB"/>
                </a:solidFill>
              </a:defRPr>
            </a:pPr>
            <a:r>
              <a:t>1. Need Arises</a:t>
            </a:r>
          </a:p>
          <a:p>
            <a:pPr>
              <a:spcBef>
                <a:spcPts val="600"/>
              </a:spcBef>
              <a:defRPr sz="1050" b="1">
                <a:solidFill>
                  <a:srgbClr val="64748B"/>
                </a:solidFill>
              </a:defRPr>
            </a:pPr>
            <a:r>
              <a:t>Touchpoint: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Syllabus Release</a:t>
            </a:r>
          </a:p>
          <a:p>
            <a:pPr>
              <a:spcBef>
                <a:spcPts val="600"/>
              </a:spcBef>
              <a:defRPr sz="1050" b="1">
                <a:solidFill>
                  <a:srgbClr val="64748B"/>
                </a:solidFill>
              </a:defRPr>
            </a:pPr>
            <a:r>
              <a:t>User Action: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Receives course syllabus requiring specialized calculators and expensive course reference textbooks.</a:t>
            </a:r>
          </a:p>
          <a:p>
            <a:pPr>
              <a:spcBef>
                <a:spcPts val="600"/>
              </a:spcBef>
              <a:defRPr sz="1050" b="1">
                <a:solidFill>
                  <a:srgbClr val="64748B"/>
                </a:solidFill>
              </a:defRPr>
            </a:pPr>
            <a:r>
              <a:t>Emotional State: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Anxious / Stressed 😟</a:t>
            </a:r>
          </a:p>
          <a:p>
            <a:pPr>
              <a:spcBef>
                <a:spcPts val="600"/>
              </a:spcBef>
              <a:defRPr sz="1050" b="1">
                <a:solidFill>
                  <a:srgbClr val="64748B"/>
                </a:solidFill>
              </a:defRPr>
            </a:pPr>
            <a:r>
              <a:t>Core Friction: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Heavy unexpected expense for single-semester coursework.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07791" y="1645920"/>
            <a:ext cx="2057400" cy="46634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01168" bIns="201168"/>
          <a:lstStyle/>
          <a:p>
            <a:pPr algn="ctr">
              <a:spcAft>
                <a:spcPts val="400"/>
              </a:spcAft>
              <a:defRPr sz="1350" b="1">
                <a:solidFill>
                  <a:srgbClr val="2563EB"/>
                </a:solidFill>
              </a:defRPr>
            </a:pPr>
            <a:r>
              <a:t>2. Search &amp; Ask</a:t>
            </a:r>
          </a:p>
          <a:p>
            <a:pPr>
              <a:spcBef>
                <a:spcPts val="600"/>
              </a:spcBef>
              <a:defRPr sz="1050" b="1">
                <a:solidFill>
                  <a:srgbClr val="64748B"/>
                </a:solidFill>
              </a:defRPr>
            </a:pPr>
            <a:r>
              <a:t>Touchpoint: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Batch WhatsApp</a:t>
            </a:r>
          </a:p>
          <a:p>
            <a:pPr>
              <a:spcBef>
                <a:spcPts val="600"/>
              </a:spcBef>
              <a:defRPr sz="1050" b="1">
                <a:solidFill>
                  <a:srgbClr val="64748B"/>
                </a:solidFill>
              </a:defRPr>
            </a:pPr>
            <a:r>
              <a:t>User Action: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Posts queries in crowded batch groups; inquires across hostel wings for available copies.</a:t>
            </a:r>
          </a:p>
          <a:p>
            <a:pPr>
              <a:spcBef>
                <a:spcPts val="600"/>
              </a:spcBef>
              <a:defRPr sz="1050" b="1">
                <a:solidFill>
                  <a:srgbClr val="64748B"/>
                </a:solidFill>
              </a:defRPr>
            </a:pPr>
            <a:r>
              <a:t>Emotional State: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Frustrated 😤</a:t>
            </a:r>
          </a:p>
          <a:p>
            <a:pPr>
              <a:spcBef>
                <a:spcPts val="600"/>
              </a:spcBef>
              <a:defRPr sz="1050" b="1">
                <a:solidFill>
                  <a:srgbClr val="64748B"/>
                </a:solidFill>
              </a:defRPr>
            </a:pPr>
            <a:r>
              <a:t>Core Friction: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Inquiries rapidly drown under relentless casual chatter and meme spam.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84064" y="1645920"/>
            <a:ext cx="2057400" cy="46634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01168" bIns="201168"/>
          <a:lstStyle/>
          <a:p>
            <a:pPr algn="ctr">
              <a:spcAft>
                <a:spcPts val="400"/>
              </a:spcAft>
              <a:defRPr sz="1350" b="1">
                <a:solidFill>
                  <a:srgbClr val="2563EB"/>
                </a:solidFill>
              </a:defRPr>
            </a:pPr>
            <a:r>
              <a:t>3. Negotiation</a:t>
            </a:r>
          </a:p>
          <a:p>
            <a:pPr>
              <a:spcBef>
                <a:spcPts val="600"/>
              </a:spcBef>
              <a:defRPr sz="1050" b="1">
                <a:solidFill>
                  <a:srgbClr val="64748B"/>
                </a:solidFill>
              </a:defRPr>
            </a:pPr>
            <a:r>
              <a:t>Touchpoint: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Private Chat DMs</a:t>
            </a:r>
          </a:p>
          <a:p>
            <a:pPr>
              <a:spcBef>
                <a:spcPts val="600"/>
              </a:spcBef>
              <a:defRPr sz="1050" b="1">
                <a:solidFill>
                  <a:srgbClr val="64748B"/>
                </a:solidFill>
              </a:defRPr>
            </a:pPr>
            <a:r>
              <a:t>User Action: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Identifies a potential senior seller; attempts to agree on price, item state, and meeting time.</a:t>
            </a:r>
          </a:p>
          <a:p>
            <a:pPr>
              <a:spcBef>
                <a:spcPts val="600"/>
              </a:spcBef>
              <a:defRPr sz="1050" b="1">
                <a:solidFill>
                  <a:srgbClr val="64748B"/>
                </a:solidFill>
              </a:defRPr>
            </a:pPr>
            <a:r>
              <a:t>Emotional State: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Hesitant 😐</a:t>
            </a:r>
          </a:p>
          <a:p>
            <a:pPr>
              <a:spcBef>
                <a:spcPts val="600"/>
              </a:spcBef>
              <a:defRPr sz="1050" b="1">
                <a:solidFill>
                  <a:srgbClr val="64748B"/>
                </a:solidFill>
              </a:defRPr>
            </a:pPr>
            <a:r>
              <a:t>Core Friction: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Senior forgets to bring item; lack of transparent pricing and deposit safety.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60336" y="1645920"/>
            <a:ext cx="2057400" cy="46634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01168" bIns="201168"/>
          <a:lstStyle/>
          <a:p>
            <a:pPr algn="ctr">
              <a:spcAft>
                <a:spcPts val="400"/>
              </a:spcAft>
              <a:defRPr sz="1350" b="1">
                <a:solidFill>
                  <a:srgbClr val="2563EB"/>
                </a:solidFill>
              </a:defRPr>
            </a:pPr>
            <a:r>
              <a:t>4. Handover</a:t>
            </a:r>
          </a:p>
          <a:p>
            <a:pPr>
              <a:spcBef>
                <a:spcPts val="600"/>
              </a:spcBef>
              <a:defRPr sz="1050" b="1">
                <a:solidFill>
                  <a:srgbClr val="64748B"/>
                </a:solidFill>
              </a:defRPr>
            </a:pPr>
            <a:r>
              <a:t>Touchpoint: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Campus Landmark</a:t>
            </a:r>
          </a:p>
          <a:p>
            <a:pPr>
              <a:spcBef>
                <a:spcPts val="600"/>
              </a:spcBef>
              <a:defRPr sz="1050" b="1">
                <a:solidFill>
                  <a:srgbClr val="64748B"/>
                </a:solidFill>
              </a:defRPr>
            </a:pPr>
            <a:r>
              <a:t>User Action: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Coordinates physical meetup; inspects equipment binding, keys, and functional condition.</a:t>
            </a:r>
          </a:p>
          <a:p>
            <a:pPr>
              <a:spcBef>
                <a:spcPts val="600"/>
              </a:spcBef>
              <a:defRPr sz="1050" b="1">
                <a:solidFill>
                  <a:srgbClr val="64748B"/>
                </a:solidFill>
              </a:defRPr>
            </a:pPr>
            <a:r>
              <a:t>Emotional State: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Relieved 🙂</a:t>
            </a:r>
          </a:p>
          <a:p>
            <a:pPr>
              <a:spcBef>
                <a:spcPts val="600"/>
              </a:spcBef>
              <a:defRPr sz="1050" b="1">
                <a:solidFill>
                  <a:srgbClr val="64748B"/>
                </a:solidFill>
              </a:defRPr>
            </a:pPr>
            <a:r>
              <a:t>Core Friction: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Difficulty pinpointing exact turnstile or spot without arrival tracking.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36608" y="1645920"/>
            <a:ext cx="2057400" cy="46634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01168" bIns="201168"/>
          <a:lstStyle/>
          <a:p>
            <a:pPr algn="ctr">
              <a:spcAft>
                <a:spcPts val="400"/>
              </a:spcAft>
              <a:defRPr sz="1350" b="1">
                <a:solidFill>
                  <a:srgbClr val="2563EB"/>
                </a:solidFill>
              </a:defRPr>
            </a:pPr>
            <a:r>
              <a:t>5. Post-Term</a:t>
            </a:r>
          </a:p>
          <a:p>
            <a:pPr>
              <a:spcBef>
                <a:spcPts val="600"/>
              </a:spcBef>
              <a:defRPr sz="1050" b="1">
                <a:solidFill>
                  <a:srgbClr val="64748B"/>
                </a:solidFill>
              </a:defRPr>
            </a:pPr>
            <a:r>
              <a:t>Touchpoint: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Semester End</a:t>
            </a:r>
          </a:p>
          <a:p>
            <a:pPr>
              <a:spcBef>
                <a:spcPts val="600"/>
              </a:spcBef>
              <a:defRPr sz="1050" b="1">
                <a:solidFill>
                  <a:srgbClr val="64748B"/>
                </a:solidFill>
              </a:defRPr>
            </a:pPr>
            <a:r>
              <a:t>User Action: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Examinations finish; equipment sits idle on hostel shelf with no structured channel to hand down.</a:t>
            </a:r>
          </a:p>
          <a:p>
            <a:pPr>
              <a:spcBef>
                <a:spcPts val="600"/>
              </a:spcBef>
              <a:defRPr sz="1050" b="1">
                <a:solidFill>
                  <a:srgbClr val="64748B"/>
                </a:solidFill>
              </a:defRPr>
            </a:pPr>
            <a:r>
              <a:t>Emotional State: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Disappointed 😕</a:t>
            </a:r>
          </a:p>
          <a:p>
            <a:pPr>
              <a:spcBef>
                <a:spcPts val="600"/>
              </a:spcBef>
              <a:defRPr sz="1050" b="1">
                <a:solidFill>
                  <a:srgbClr val="64748B"/>
                </a:solidFill>
              </a:defRPr>
            </a:pPr>
            <a:r>
              <a:t>Core Friction: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Wasted investment; identical financial friction restarts for next incoming batch.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071E3"/>
                </a:solidFill>
              </a:defRPr>
            </a:pPr>
            <a:r>
              <a:t>PHASE 1: AUTHENTIC FIELD RESEARCH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Empathy Evidence: Real Campus WhatsApp Chat Logs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5166360" cy="47091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92608" bIns="292608"/>
          <a:lstStyle/>
          <a:p>
            <a:pPr algn="ctr">
              <a:spcAft>
                <a:spcPts val="1200"/>
              </a:spcAft>
              <a:defRPr sz="1600" b="1">
                <a:solidFill>
                  <a:srgbClr val="2563EB"/>
                </a:solidFill>
              </a:defRPr>
            </a:pPr>
            <a:r>
              <a:t>Real Student WhatsApp Listings at MIT-B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Duplicate Online Orders:</a:t>
            </a:r>
            <a:br/>
            <a:r>
              <a:t>Student Peer (2nd Yr IT) posted a sealed laptop protective case seeking peer resale after an accidental duplicate e-commerce shipment.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Midnight Perishable Food Surplus:</a:t>
            </a:r>
            <a:br/>
            <a:r>
              <a:t>Hostel Resident (Block 2) posted fresh evening food parcels late at night to prevent discarding hot, edible meals.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Surplus Hostel Pantry Stock:</a:t>
            </a:r>
            <a:br/>
            <a:r>
              <a:t>Hostel Resident (Block A) listed sealed packaged muesli and dry snacks due to surplus personal grocery purchases.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Specialized Fitness Supplies:</a:t>
            </a:r>
            <a:br/>
            <a:r>
              <a:t>Campus Peer (3rd Yr Mech) posted unopened gym supplements seeking campus workout peers.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91072" y="1600200"/>
            <a:ext cx="5166360" cy="47091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92608" bIns="292608"/>
          <a:lstStyle/>
          <a:p>
            <a:pPr algn="ctr">
              <a:spcAft>
                <a:spcPts val="1200"/>
              </a:spcAft>
              <a:defRPr sz="1600" b="1">
                <a:solidFill>
                  <a:srgbClr val="2563EB"/>
                </a:solidFill>
              </a:defRPr>
            </a:pPr>
            <a:r>
              <a:t>The Digital Subscription Sharing Phenomenon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Digital Resource Splits:</a:t>
            </a:r>
            <a:br/>
            <a:r>
              <a:t>Peer Member (3rd Yr CSE) posted seeking campus peers to split costs for shared personal study and entertainment subscriptions.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Group Chat Degradation:</a:t>
            </a:r>
            <a:br/>
            <a:r>
              <a:t>Notices drown within minutes amidst active banter, forcing seniors to repeatedly re-post identical messages.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The 'DM for Price' Barrier:</a:t>
            </a:r>
            <a:br/>
            <a:r>
              <a:t>Opaque pricing causes awkward haggling friction, mutual hesitation, and fear of unverified payment defaults.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Design Intervention: CampusShare delivers structured categories, verified Manipal IDs, upfront pricing, and perishable item timers.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071E3"/>
                </a:solidFill>
              </a:defRPr>
            </a:pPr>
            <a:r>
              <a:t>PHASE 1: DEFINE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Define Phase: Problem Statement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10728655" cy="1691640"/>
          </a:xfrm>
          <a:prstGeom prst="roundRect">
            <a:avLst/>
          </a:prstGeom>
          <a:solidFill>
            <a:srgbClr val="F0F7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228600" bIns="228600"/>
          <a:lstStyle/>
          <a:p>
            <a:pPr algn="ctr">
              <a:spcAft>
                <a:spcPts val="400"/>
              </a:spcAft>
              <a:defRPr sz="1150" b="1">
                <a:solidFill>
                  <a:srgbClr val="0071E3"/>
                </a:solidFill>
              </a:defRPr>
            </a:pPr>
            <a:r>
              <a:t>OFFICIAL PROBLEM STATEMENT</a:t>
            </a:r>
          </a:p>
          <a:p>
            <a:pPr>
              <a:defRPr sz="1550" b="1">
                <a:solidFill>
                  <a:srgbClr val="0F172A"/>
                </a:solidFill>
              </a:defRPr>
            </a:pPr>
            <a:r>
              <a:t>“Undergraduate engineering students at MIT Bengaluru incur substantial recurring financial burdens each semester purchasing temporary academic resources that are abandoned after single-term use, because informal campus communication channels lack verification, itemized search, and structured peer-to-peer lending models—leaving senior student inventory unutilized.”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520440"/>
            <a:ext cx="3413455" cy="27889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56032" bIns="256032"/>
          <a:lstStyle/>
          <a:p>
            <a:pPr algn="ctr">
              <a:defRPr sz="1500" b="1">
                <a:solidFill>
                  <a:srgbClr val="2563EB"/>
                </a:solidFill>
              </a:defRPr>
            </a:pPr>
            <a:r>
              <a:t>👥 Target Cohort</a:t>
            </a:r>
          </a:p>
          <a:p>
            <a:pPr>
              <a:spcAft>
                <a:spcPts val="800"/>
              </a:spcAft>
              <a:defRPr sz="1100" b="1">
                <a:solidFill>
                  <a:srgbClr val="64748B"/>
                </a:solidFill>
              </a:defRPr>
            </a:pPr>
            <a:r>
              <a:t>Who is affected?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Undergraduate engineering students across all academic branches (CSE, IT, ECE, Mechanical, and 1st-Year Common Cycles) residing in campus hostels and day-scholar circles who require temporary coursework tools.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3520440"/>
            <a:ext cx="3413455" cy="27889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56032" bIns="256032"/>
          <a:lstStyle/>
          <a:p>
            <a:pPr algn="ctr">
              <a:defRPr sz="1500" b="1">
                <a:solidFill>
                  <a:srgbClr val="2563EB"/>
                </a:solidFill>
              </a:defRPr>
            </a:pPr>
            <a:r>
              <a:t>💸 Core Friction</a:t>
            </a:r>
          </a:p>
          <a:p>
            <a:pPr>
              <a:spcAft>
                <a:spcPts val="800"/>
              </a:spcAft>
              <a:defRPr sz="1100" b="1">
                <a:solidFill>
                  <a:srgbClr val="64748B"/>
                </a:solidFill>
              </a:defRPr>
            </a:pPr>
            <a:r>
              <a:t>What is the impact?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Severe cumulative financial burden on students repeatedly purchasing brand-new instruments and textbooks that become dormant once final examinations conclude, generating needless financial strain and academic waste.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3520440"/>
            <a:ext cx="3413455" cy="27889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56032" bIns="256032"/>
          <a:lstStyle/>
          <a:p>
            <a:pPr algn="ctr">
              <a:defRPr sz="1500" b="1">
                <a:solidFill>
                  <a:srgbClr val="2563EB"/>
                </a:solidFill>
              </a:defRPr>
            </a:pPr>
            <a:r>
              <a:t>🌱 Strategic Timing</a:t>
            </a:r>
          </a:p>
          <a:p>
            <a:pPr>
              <a:spcAft>
                <a:spcPts val="800"/>
              </a:spcAft>
              <a:defRPr sz="1100" b="1">
                <a:solidFill>
                  <a:srgbClr val="64748B"/>
                </a:solidFill>
              </a:defRPr>
            </a:pPr>
            <a:r>
              <a:t>Why address it now?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Rising cost of academic supplies combined with MAHE's university-wide sustainability mandates, demanding circular student resource lifecycles, zero-waste campus habits, and institutional peer affordability.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071E3"/>
                </a:solidFill>
              </a:defRPr>
            </a:pPr>
            <a:r>
              <a:t>PHASE 2: ANALYZE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Analyze Phase: 5-Whys &amp; How Might We...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5166360" cy="47091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92608" bIns="292608"/>
          <a:lstStyle/>
          <a:p>
            <a:pPr algn="ctr">
              <a:spcAft>
                <a:spcPts val="1200"/>
              </a:spcAft>
              <a:defRPr sz="1600" b="1">
                <a:solidFill>
                  <a:srgbClr val="2563EB"/>
                </a:solidFill>
              </a:defRPr>
            </a:pPr>
            <a:r>
              <a:t>The 5-Whys Root Cause Analysis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1. Why do students purchase expensive new gear repeatedly?</a:t>
            </a:r>
            <a:br/>
            <a:r>
              <a:t>   Because they lack visibility into surplus items owned by seniors.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2. Why can't juniors easily access seniors' items?</a:t>
            </a:r>
            <a:br/>
            <a:r>
              <a:t>   Because unused items remain locked away in seniors' hostel rooms.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3. Why don't seniors transfer them to incoming juniors?</a:t>
            </a:r>
            <a:br/>
            <a:r>
              <a:t>   Because posting on informal social groups is disorganized and tedious.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4. Why do existing social chat channels fail?</a:t>
            </a:r>
            <a:br/>
            <a:r>
              <a:t>   Because chat groups lack category filtering, price discovery, and search indexing.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5. Root Cause:</a:t>
            </a:r>
            <a:br/>
            <a:r>
              <a:t>   The total absence of a dedicated, campus-verified web exchange specifically architected for student peer discovery and physical handovers.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91072" y="1600200"/>
            <a:ext cx="5166360" cy="47091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92608" bIns="292608"/>
          <a:lstStyle/>
          <a:p>
            <a:pPr algn="ctr">
              <a:spcAft>
                <a:spcPts val="1200"/>
              </a:spcAft>
              <a:defRPr sz="1600" b="1">
                <a:solidFill>
                  <a:srgbClr val="2563EB"/>
                </a:solidFill>
              </a:defRPr>
            </a:pPr>
            <a:r>
              <a:t>How Might We (HMW) Opportunity Questions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HMW 1 (Economic Affordability):</a:t>
            </a:r>
            <a:br/>
            <a:r>
              <a:t>How might we make essential specialized lab gear and reference materials accessible at zero or nominal cost for every student?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HMW 2 (Institutional Trust):</a:t>
            </a:r>
            <a:br/>
            <a:r>
              <a:t>How might we guarantee that transaction participants are verified university peers without imposing cumbersome verification workflows?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HMW 3 (Frictionless Exchange):</a:t>
            </a:r>
            <a:br/>
            <a:r>
              <a:t>How might we coordinate physical handovers at common campus landmarks without shipping delays or logistical confusion?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071E3"/>
                </a:solidFill>
              </a:defRPr>
            </a:pPr>
            <a:r>
              <a:t>PHASE 3: SOLVE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Solve Phase: Ideation &amp; Solution Features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5166360" cy="47091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92608" bIns="292608"/>
          <a:lstStyle/>
          <a:p>
            <a:pPr algn="ctr">
              <a:spcAft>
                <a:spcPts val="1200"/>
              </a:spcAft>
              <a:defRPr sz="1600" b="1">
                <a:solidFill>
                  <a:srgbClr val="2563EB"/>
                </a:solidFill>
              </a:defRPr>
            </a:pPr>
            <a:r>
              <a:t>Free Brainstorming &amp; Concept Selection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Idea A: Physical bulletin boards in cafeteria — Discarded (Requires manual paper upkeep, lacks real-time item status, no digital search).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Idea B: Departmental rental hardware lockers — Discarded (High capital installation cost, maintenance complexity, institutional approval delays).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Idea C: CampusShare Web Application — SELECTED (Zero overhead, instant search, accessible from student smartphones, no app store download required).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Core Architectural Advantage: Multi-modal transaction framework accommodating borrowing, renting, surplus claiming, and permanent transfers.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91072" y="1600200"/>
            <a:ext cx="5166360" cy="47091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92608" bIns="292608"/>
          <a:lstStyle/>
          <a:p>
            <a:pPr algn="ctr">
              <a:spcAft>
                <a:spcPts val="1200"/>
              </a:spcAft>
              <a:defRPr sz="1600" b="1">
                <a:solidFill>
                  <a:srgbClr val="2563EB"/>
                </a:solidFill>
              </a:defRPr>
            </a:pPr>
            <a:r>
              <a:t>Core Solution Pillars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1. Institutional Peer Verification: Sign-in and request authentication restricted to verified @learner.manipal.edu credentials.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2. Flexible Exchange Options: Free semester loans, low-cost examination rentals, and deep-discount permanent handovers.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3. 🚨 Express Exam &amp; Lab SOS: Instant micro-rentals for emergency scientific calculator and lab coat needs directly outside examination blocks.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4. ⚡ Flash Surplus Drops: Fixed upfront prices with expiration countdowns for hostel dining and pantry surplus, eliminating 'DM for price' spam.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5. Designated Landmark Handovers: Safe physical coordination anchored at recognized campus spots (Central Library, Food Court, Hostel Foyers).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071E3"/>
                </a:solidFill>
              </a:defRPr>
            </a:pPr>
            <a:r>
              <a:t>STAKEHOLDER ANALYSIS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Target Users &amp; Campus Stakeholders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5166360" cy="47091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92608" bIns="292608"/>
          <a:lstStyle/>
          <a:p>
            <a:pPr algn="ctr">
              <a:spcAft>
                <a:spcPts val="1200"/>
              </a:spcAft>
              <a:defRPr sz="1600" b="1">
                <a:solidFill>
                  <a:srgbClr val="2563EB"/>
                </a:solidFill>
              </a:defRPr>
            </a:pPr>
            <a:r>
              <a:t>Primary Student Personas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Persona 1: 'The Cost-Conscious Fresher' (1st-Year Engineering Student)</a:t>
            </a:r>
            <a:br/>
            <a:r>
              <a:t>Needs: Reference mathematics textbooks, scientific calculators, and standard chemistry lab coats. Goal: Successfully complete 1st-year practicals and exams without paying premium retail prices for single-term items.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Persona 2: 'The Graduating Senior' (4th-Year Outgoing Student)</a:t>
            </a:r>
            <a:br/>
            <a:r>
              <a:t>Needs: Efficiently declutter hostel room prior to campus departure. Goal: Seamlessly pass down working drafters, developer kits, and course literature to juniors while recovering modest pocket funds.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91072" y="1600200"/>
            <a:ext cx="5166360" cy="47091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92608" bIns="292608"/>
          <a:lstStyle/>
          <a:p>
            <a:pPr algn="ctr">
              <a:spcAft>
                <a:spcPts val="1200"/>
              </a:spcAft>
              <a:defRPr sz="1600" b="1">
                <a:solidFill>
                  <a:srgbClr val="2563EB"/>
                </a:solidFill>
              </a:defRPr>
            </a:pPr>
            <a:r>
              <a:t>Institutional Stakeholders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Persona 3: 'Department Lab Instructors &amp; Faculty'</a:t>
            </a:r>
            <a:br/>
            <a:r>
              <a:t>Needs: Ensure students arrive punctually equipped with standard approved instruments (safety goggles, calculators). Goal: Eliminate practical class delays caused by missing tools.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Persona 4: 'University Sustainability Cell (MAHE)'</a:t>
            </a:r>
            <a:br/>
            <a:r>
              <a:t>Needs: Enforce circular resource utilization and responsible campus consumption. Goal: Reduce usable paper and plastic academic gear deposited in hostel waste disposal.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071E3"/>
                </a:solidFill>
              </a:defRPr>
            </a:pPr>
            <a:r>
              <a:t>METHODOLOGY &amp; SCOPE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Project Objectives &amp; Design 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5166360" cy="47091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92608" bIns="292608"/>
          <a:lstStyle/>
          <a:p>
            <a:pPr algn="ctr">
              <a:spcAft>
                <a:spcPts val="1200"/>
              </a:spcAft>
              <a:defRPr sz="1600" b="1">
                <a:solidFill>
                  <a:srgbClr val="2563EB"/>
                </a:solidFill>
              </a:defRPr>
            </a:pPr>
            <a:r>
              <a:t>Core Project Objectives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1. Financial Accessibility: Alleviate student budget strain by substituting costly retail purchases with peer-to-peer resource sharing.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2. Environmental Responsibility: Establish a closed-loop circular lifecycle keeping durable tools and surplus food in active campus use.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3. Transparent Discovery: Replace unorganized social media spam with structured categorization and upfront fixed pricing.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4. Student Safety &amp; Privacy: Protect student identities through institutional domain validation and Zero-Knowledge privacy protocols.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91072" y="1600200"/>
            <a:ext cx="5166360" cy="47091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92608" bIns="292608"/>
          <a:lstStyle/>
          <a:p>
            <a:pPr algn="ctr">
              <a:spcAft>
                <a:spcPts val="1200"/>
              </a:spcAft>
              <a:defRPr sz="1600" b="1">
                <a:solidFill>
                  <a:srgbClr val="2563EB"/>
                </a:solidFill>
              </a:defRPr>
            </a:pPr>
            <a:r>
              <a:t>Design Thinking Methodology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Stage 1: Empathy (Digital ethnography of active campus WhatsApp trade groups and student emotional journey mapping).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Stage 2: Define (Formulation of precise actionable problem statement focused on equipment abandonment).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Stage 3: Analyze (5-Whys root cause discovery and HMW opportunity clustering).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Stage 4: Solve (Multi-mode exchange formulation, wireframing, and interactive prototyping).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Stage 5: Test &amp; Iterate (Walkthrough evaluations with campus peers to validate usability, comfort, and physical handover safety).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071E3"/>
                </a:solidFill>
              </a:defRPr>
            </a:pPr>
            <a:r>
              <a:t>PHASE 4: PROTOTYPE IMPLEMENTATION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Make / Test Phase: Architecture &amp;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5166360" cy="47091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92608" bIns="292608"/>
          <a:lstStyle/>
          <a:p>
            <a:pPr algn="ctr">
              <a:spcAft>
                <a:spcPts val="1200"/>
              </a:spcAft>
              <a:defRPr sz="1600" b="1">
                <a:solidFill>
                  <a:srgbClr val="2563EB"/>
                </a:solidFill>
              </a:defRPr>
            </a:pPr>
            <a:r>
              <a:t>Technology Stack Selection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Frontend Core: Semantic HTML5, Vanilla CSS3 (Apple Design System with CSS variables), and ES6+ JavaScript.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Zero Backend Overhead Advantage:</a:t>
            </a:r>
            <a:br/>
            <a:r>
              <a:t>   • Instant load time with zero compilation delays.</a:t>
            </a:r>
            <a:br/>
            <a:r>
              <a:t>   • Runs directly in any mobile or desktop browser without installation.</a:t>
            </a:r>
            <a:br/>
            <a:r>
              <a:t>   • Perfect for rapid prototype demonstration in presentations.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Typography &amp; UI System: Curated typography (Inter / San Francisco), frosted glassmorphism (backdrop-filter: blur), and Apple-grade micro-interactions.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91072" y="1600200"/>
            <a:ext cx="5166360" cy="47091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92608" bIns="292608"/>
          <a:lstStyle/>
          <a:p>
            <a:pPr algn="ctr">
              <a:spcAft>
                <a:spcPts val="1200"/>
              </a:spcAft>
              <a:defRPr sz="1600" b="1">
                <a:solidFill>
                  <a:srgbClr val="2563EB"/>
                </a:solidFill>
              </a:defRPr>
            </a:pPr>
            <a:r>
              <a:t>Key Prototype Modules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1. Navigation &amp; Search Engine: Real-time search indexing by keyword, item title, and academic department.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2. Multi-Mode Switcher: Rapid filtering across All Items, Free Borrowing, Exam Rentals, and Flash Surplus Drops.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3. Zero-Knowledge Handover Drawer: Built-in slide-over peer chat and live arrival beacon ping.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4. Direct On-Spot UPI QR: Scan-and-pay settlement directly to senior's UPI account with zero middleman commission.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5. Interactive Listing Engine: Seniors publish items in moments with default Ghost Privacy.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071E3"/>
                </a:solidFill>
              </a:defRPr>
            </a:pPr>
            <a:r>
              <a:t>PROTOTYPE DEMONSTRATION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Interactive Web Prototype &amp; Privacy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ean_cards_two_c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257800" cy="4122115"/>
          </a:xfrm>
          <a:prstGeom prst="rect">
            <a:avLst/>
          </a:prstGeom>
        </p:spPr>
      </p:pic>
      <p:pic>
        <p:nvPicPr>
          <p:cNvPr id="5" name="Picture 4" descr="clean_chat_drawer_portra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600200"/>
            <a:ext cx="2849880" cy="46634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961120" y="1600200"/>
            <a:ext cx="2697480" cy="46634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228600" bIns="228600"/>
          <a:lstStyle/>
          <a:p>
            <a:pPr algn="ctr">
              <a:spcAft>
                <a:spcPts val="600"/>
              </a:spcAft>
              <a:defRPr sz="1350" b="1">
                <a:solidFill>
                  <a:srgbClr val="2563EB"/>
                </a:solidFill>
              </a:defRPr>
            </a:pPr>
            <a:r>
              <a:t>Zero-Knowledge Architecture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🛡️  Zero Phone Numbers Anywhere: Personal phone numbers, WhatsApp, and hostel room numbers are NEVER collected, stored, or exposed anywhere on the platform.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🛡️  Stage 1 (Public Feed): Displays ONLY public landmark spots (Library, Food Court) and verified student batch handle.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🛡️  Stage 2 (In-App Peer Chat): Apple slide-over drawer coordinates handover times safely without revealing personal contact details.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🛡️  Stage 3 (Beacon &amp; Direct UPI): Live arrival beacon ping + on-spot direct GPay/PhonePe scan with zero middleman escrow holding student funds.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🛡️  Hostel Safety &amp; Anti-Harassment: Eliminates stalking and number scraping, creating a trusted environment for female students in hostel blocks.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071E3"/>
                </a:solidFill>
              </a:defRPr>
            </a:pPr>
            <a:r>
              <a:t>PHASE 4: TESTING &amp; VALIDATION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Testing, Evaluation &amp; Peer Feedback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5166360" cy="47091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92608" bIns="292608"/>
          <a:lstStyle/>
          <a:p>
            <a:pPr algn="ctr">
              <a:spcAft>
                <a:spcPts val="1200"/>
              </a:spcAft>
              <a:defRPr sz="1600" b="1">
                <a:solidFill>
                  <a:srgbClr val="2563EB"/>
                </a:solidFill>
              </a:defRPr>
            </a:pPr>
            <a:r>
              <a:t>Peer Walkthrough Methodology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Method: Structured interactive walkthrough evaluations conducted with hostel wingmates and batchmates across junior and senior engineering cycles.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Scenario 1 (Seeker Workflow): Finding an exam tool, opening the slide-over peer chat, and triggering the live arrival beacon ping.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Scenario 2 (Lender Workflow): Listing an unused resource within moments with default Zero-Knowledge Ghost Privacy.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Evaluation Criteria: Usability clarity, physical safety comfort, and reduction in peer handover friction.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91072" y="1600200"/>
            <a:ext cx="5166360" cy="47091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92608" bIns="292608"/>
          <a:lstStyle/>
          <a:p>
            <a:pPr algn="ctr">
              <a:spcAft>
                <a:spcPts val="1200"/>
              </a:spcAft>
              <a:defRPr sz="1600" b="1">
                <a:solidFill>
                  <a:srgbClr val="2563EB"/>
                </a:solidFill>
              </a:defRPr>
            </a:pPr>
            <a:r>
              <a:t>Qualitative Peer Feedback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Zero-Knowledge Safety: Female students in hostel blocks strongly validated that keeping personal phone numbers and room details completely hidden eliminates harassment risks.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Direct On-Spot UPI: Peers appreciated inspecting items physically first rather than having money locked into an app escrow.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Landmark Coordination: Predefined meeting spots (Library, Food Court) removed the awkwardness of coordinating where to meet.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Transparent Pricing: Freshers praised the upfront price tags, stating they dread asking 'DM for price' on unstructured WhatsApp groups.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071E3"/>
                </a:solidFill>
              </a:defRPr>
            </a:pPr>
            <a:r>
              <a:t>CONCLUSION &amp; ROADMAP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Future Scope &amp; Project 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5166360" cy="47091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92608" bIns="292608"/>
          <a:lstStyle/>
          <a:p>
            <a:pPr algn="ctr">
              <a:spcAft>
                <a:spcPts val="1200"/>
              </a:spcAft>
              <a:defRPr sz="1600" b="1">
                <a:solidFill>
                  <a:srgbClr val="2563EB"/>
                </a:solidFill>
              </a:defRPr>
            </a:pPr>
            <a:r>
              <a:t>Future Scope &amp; Roadmap (v2.0)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WhatsApp Cloud API Webhooks: Automated messaging notifications alerting seniors when a junior requests an item.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Central Library Smart Lockers: Integration with physical campus lockers for 24/7 contactless handovers and returns.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Automated Academic Return Prompts: Calendar-synced reminders sent prior to end-semester exams to return borrowed books.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University Reserve Catalogue Sync: Cross-referencing university library inventory to highlight high-demand out-of-stock reserve books.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91072" y="1600200"/>
            <a:ext cx="5166360" cy="47091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92608" bIns="292608"/>
          <a:lstStyle/>
          <a:p>
            <a:pPr algn="ctr">
              <a:spcAft>
                <a:spcPts val="1200"/>
              </a:spcAft>
              <a:defRPr sz="1600" b="1">
                <a:solidFill>
                  <a:srgbClr val="2563EB"/>
                </a:solidFill>
              </a:defRPr>
            </a:pPr>
            <a:r>
              <a:t>Summary of Key Learnings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Design Thinking forced our team to step back from technical assumptions and understand real human pain points.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Root causes are rarely technical—the issue wasn't a lack of books, but the friction of discovery, trust, and physical handover.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By implementing circular resource sharing, CampusShare demonstrates how simple engineering design creates tangible social and economic value for universities.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828800"/>
            <a:ext cx="85340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600" b="1">
                <a:solidFill>
                  <a:srgbClr val="FFFFFF"/>
                </a:solidFill>
              </a:defRPr>
            </a:pPr>
            <a:r>
              <a:t>Thank You!</a:t>
            </a:r>
          </a:p>
          <a:p>
            <a:pPr algn="ctr">
              <a:spcBef>
                <a:spcPts val="800"/>
              </a:spcBef>
              <a:defRPr sz="2000">
                <a:solidFill>
                  <a:srgbClr val="93C5FD"/>
                </a:solidFill>
              </a:defRPr>
            </a:pPr>
            <a:r>
              <a:t>Questions &amp; Feedback Welcome</a:t>
            </a:r>
          </a:p>
          <a:p>
            <a:pPr algn="ctr">
              <a:spcBef>
                <a:spcPts val="2400"/>
              </a:spcBef>
              <a:defRPr sz="1300">
                <a:solidFill>
                  <a:srgbClr val="94A3B8"/>
                </a:solidFill>
              </a:defRPr>
            </a:pPr>
            <a:r>
              <a:t>CampusShare | Design Thinking (HUM_4342) | MIT Bengaluru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