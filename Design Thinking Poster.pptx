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6118800" cy="36118800"/>
  <p:notesSz cx="6858000" cy="9144000"/>
  <p:embeddedFontLst>
    <p:embeddedFont>
      <p:font typeface="Comic Sans MS" panose="030F0702030302020204" pitchFamily="66" charset="0"/>
      <p:regular r:id="rId4"/>
      <p:bold r:id="rId5"/>
      <p:italic r:id="rId6"/>
      <p:boldItalic r:id="rId7"/>
    </p:embeddedFont>
    <p:embeddedFont>
      <p:font typeface="Georgia" panose="02040502050405020303" pitchFamily="18" charset="0"/>
      <p:regular r:id="rId8"/>
      <p:bold r:id="rId9"/>
      <p:italic r:id="rId10"/>
      <p:boldItalic r:id="rId11"/>
    </p:embeddedFont>
    <p:embeddedFont>
      <p:font typeface="Helvetica Neue" panose="020B0604020202020204" charset="0"/>
      <p:bold r:id="rId12"/>
      <p:boldItalic r:id="rId13"/>
    </p:embeddedFont>
    <p:embeddedFont>
      <p:font typeface="Tahoma" panose="020B0604030504040204" pitchFamily="34" charset="0"/>
      <p:regular r:id="rId14"/>
      <p:bold r:id="rId15"/>
    </p:embeddedFont>
    <p:embeddedFont>
      <p:font typeface="Trebuchet MS" panose="020B0603020202020204" pitchFamily="3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1376">
          <p15:clr>
            <a:srgbClr val="A4A3A4"/>
          </p15:clr>
        </p15:guide>
        <p15:guide id="2" pos="1137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63A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" d="100"/>
          <a:sy n="20" d="100"/>
        </p:scale>
        <p:origin x="968" y="12"/>
      </p:cViewPr>
      <p:guideLst>
        <p:guide orient="horz" pos="11376"/>
        <p:guide pos="1137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font" Target="fonts/font7.fntdata"/><Relationship Id="rId11" Type="http://schemas.openxmlformats.org/officeDocument/2006/relationships/font" Target="fonts/font8.fntdata"/><Relationship Id="rId12" Type="http://schemas.openxmlformats.org/officeDocument/2006/relationships/font" Target="fonts/font9.fntdata"/><Relationship Id="rId13" Type="http://schemas.openxmlformats.org/officeDocument/2006/relationships/font" Target="fonts/font10.fntdata"/><Relationship Id="rId14" Type="http://schemas.openxmlformats.org/officeDocument/2006/relationships/font" Target="fonts/font11.fntdata"/><Relationship Id="rId15" Type="http://schemas.openxmlformats.org/officeDocument/2006/relationships/font" Target="fonts/font12.fntdata"/><Relationship Id="rId16" Type="http://schemas.openxmlformats.org/officeDocument/2006/relationships/font" Target="fonts/font13.fntdata"/><Relationship Id="rId17" Type="http://schemas.openxmlformats.org/officeDocument/2006/relationships/font" Target="fonts/font14.fntdata"/><Relationship Id="rId18" Type="http://schemas.openxmlformats.org/officeDocument/2006/relationships/font" Target="fonts/font15.fntdata"/><Relationship Id="rId19" Type="http://schemas.openxmlformats.org/officeDocument/2006/relationships/font" Target="fonts/font16.fnt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716088" y="685800"/>
            <a:ext cx="3427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93969306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16088" y="685800"/>
            <a:ext cx="3427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086604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708275" y="11220450"/>
            <a:ext cx="30702250" cy="7742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5418138" y="20467638"/>
            <a:ext cx="25282525" cy="9229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2880"/>
              </a:spcBef>
              <a:spcAft>
                <a:spcPts val="0"/>
              </a:spcAft>
              <a:buClr>
                <a:schemeClr val="dk1"/>
              </a:buClr>
              <a:buSzPts val="14400"/>
              <a:buFont typeface="Arial" panose="020B0604020202020204"/>
              <a:buNone/>
              <a:defRPr/>
            </a:lvl1pPr>
            <a:lvl2pPr lvl="1" algn="ctr">
              <a:spcBef>
                <a:spcPts val="2520"/>
              </a:spcBef>
              <a:spcAft>
                <a:spcPts val="0"/>
              </a:spcAft>
              <a:buClr>
                <a:schemeClr val="dk1"/>
              </a:buClr>
              <a:buSzPts val="12600"/>
              <a:buFont typeface="Arial" panose="020B0604020202020204"/>
              <a:buNone/>
              <a:defRPr/>
            </a:lvl2pPr>
            <a:lvl3pPr lvl="2" algn="ctr">
              <a:spcBef>
                <a:spcPts val="2160"/>
              </a:spcBef>
              <a:spcAft>
                <a:spcPts val="0"/>
              </a:spcAft>
              <a:buClr>
                <a:schemeClr val="dk1"/>
              </a:buClr>
              <a:buSzPts val="10800"/>
              <a:buFont typeface="Arial" panose="020B0604020202020204"/>
              <a:buNone/>
              <a:defRPr/>
            </a:lvl3pPr>
            <a:lvl4pPr lvl="3" algn="ctr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None/>
              <a:defRPr/>
            </a:lvl4pPr>
            <a:lvl5pPr lvl="4" algn="ctr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None/>
              <a:defRPr/>
            </a:lvl5pPr>
            <a:lvl6pPr lvl="5" algn="ctr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None/>
              <a:defRPr/>
            </a:lvl6pPr>
            <a:lvl7pPr lvl="6" algn="ctr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None/>
              <a:defRPr/>
            </a:lvl7pPr>
            <a:lvl8pPr lvl="7" algn="ctr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None/>
              <a:defRPr/>
            </a:lvl8pPr>
            <a:lvl9pPr lvl="8" algn="ctr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806575" y="1446213"/>
            <a:ext cx="3250565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806575" y="8428038"/>
            <a:ext cx="32505650" cy="23836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2852738" y="23209250"/>
            <a:ext cx="30700662" cy="717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2852738" y="15308263"/>
            <a:ext cx="30700662" cy="7900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/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806575" y="1446213"/>
            <a:ext cx="3250565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806575" y="8428038"/>
            <a:ext cx="16176624" cy="23836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18135600" y="8428038"/>
            <a:ext cx="16176624" cy="23836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806575" y="1446213"/>
            <a:ext cx="3250565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806575" y="8085138"/>
            <a:ext cx="15957550" cy="3368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806575" y="11453813"/>
            <a:ext cx="15957550" cy="2081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18348325" y="8085138"/>
            <a:ext cx="15963900" cy="3368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18348325" y="11453813"/>
            <a:ext cx="15963900" cy="2081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806575" y="1446213"/>
            <a:ext cx="3250565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806575" y="1438275"/>
            <a:ext cx="11882438" cy="6119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4120813" y="1438275"/>
            <a:ext cx="20191412" cy="30826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806575" y="7558088"/>
            <a:ext cx="11882438" cy="24706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 panose="020B0604020202020204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080250" y="25282525"/>
            <a:ext cx="21670963" cy="2986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080250" y="3227388"/>
            <a:ext cx="21670963" cy="216709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None/>
              <a:defRPr sz="3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7080250" y="28268613"/>
            <a:ext cx="21670963" cy="423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 panose="020B0604020202020204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806575" y="1446213"/>
            <a:ext cx="3250565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6141244" y="4093370"/>
            <a:ext cx="23836312" cy="32505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4839950" y="12792076"/>
            <a:ext cx="30818138" cy="8126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-1489076" y="4741863"/>
            <a:ext cx="30818138" cy="2422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806575" y="1446213"/>
            <a:ext cx="3250565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806575" y="8428038"/>
            <a:ext cx="32505650" cy="23836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marR="0" lvl="0" indent="-1143000" algn="l" rtl="0">
              <a:spcBef>
                <a:spcPts val="2880"/>
              </a:spcBef>
              <a:spcAft>
                <a:spcPts val="0"/>
              </a:spcAft>
              <a:buClr>
                <a:schemeClr val="dk1"/>
              </a:buClr>
              <a:buSzPts val="14400"/>
              <a:buFont typeface="Arial" panose="020B0604020202020204"/>
              <a:buChar char="•"/>
              <a:defRPr sz="14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1028700" algn="l" rtl="0">
              <a:spcBef>
                <a:spcPts val="2520"/>
              </a:spcBef>
              <a:spcAft>
                <a:spcPts val="0"/>
              </a:spcAft>
              <a:buClr>
                <a:schemeClr val="dk1"/>
              </a:buClr>
              <a:buSzPts val="12600"/>
              <a:buFont typeface="Arial" panose="020B0604020202020204"/>
              <a:buChar char="–"/>
              <a:defRPr sz="126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914400" algn="l" rtl="0">
              <a:spcBef>
                <a:spcPts val="2160"/>
              </a:spcBef>
              <a:spcAft>
                <a:spcPts val="0"/>
              </a:spcAft>
              <a:buClr>
                <a:schemeClr val="dk1"/>
              </a:buClr>
              <a:buSzPts val="10800"/>
              <a:buFont typeface="Arial" panose="020B0604020202020204"/>
              <a:buChar char="•"/>
              <a:defRPr sz="10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800100" algn="l" rtl="0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Char char="–"/>
              <a:defRPr sz="9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800100" algn="l" rtl="0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Char char="»"/>
              <a:defRPr sz="9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800100" algn="l" rtl="0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Char char="»"/>
              <a:defRPr sz="9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800100" algn="l" rtl="0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Char char="»"/>
              <a:defRPr sz="9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800100" algn="l" rtl="0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Char char="»"/>
              <a:defRPr sz="9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800100" algn="l" rtl="0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Char char="»"/>
              <a:defRPr sz="9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tile tx="0" ty="0" sx="100000" sy="100000" flip="none" algn="tl"/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/>
          <p:nvPr/>
        </p:nvSpPr>
        <p:spPr>
          <a:xfrm>
            <a:off x="171450" y="152400"/>
            <a:ext cx="35680650" cy="4291013"/>
          </a:xfrm>
          <a:prstGeom prst="roundRect">
            <a:avLst>
              <a:gd name="adj" fmla="val 10514"/>
            </a:avLst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4038599" y="94552"/>
            <a:ext cx="28956001" cy="1690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DESIGN THINKING (HUM_4342)</a:t>
            </a:r>
          </a:p>
          <a:p>
            <a:pPr algn="ctr">
              <a:defRPr b="1">
                <a:solidFill>
                  <a:srgbClr val="FFFFFF"/>
                </a:solidFill>
              </a:defRPr>
            </a:pPr>
            <a:r>
              <a:t>CampusShare: Peer-to-Peer Campus Resource &amp; Book Exchange</a:t>
            </a:r>
          </a:p>
        </p:txBody>
      </p:sp>
      <p:sp>
        <p:nvSpPr>
          <p:cNvPr id="93" name="Google Shape;93;p1"/>
          <p:cNvSpPr txBox="1"/>
          <p:nvPr/>
        </p:nvSpPr>
        <p:spPr>
          <a:xfrm>
            <a:off x="4486831" y="1784922"/>
            <a:ext cx="28851225" cy="230828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>
                <a:solidFill>
                  <a:srgbClr val="F1F5F9"/>
                </a:solidFill>
              </a:defRPr>
            </a:pPr>
            <a:r>
              <a:t>Team Members: Sridhar Madhira | Priyansh Kashyap [CSE (AI)]  •  Reg Nos: [Your Reg No] | 235890468</a:t>
            </a:r>
          </a:p>
          <a:p>
            <a:pPr algn="ctr">
              <a:defRPr>
                <a:solidFill>
                  <a:srgbClr val="F1F5F9"/>
                </a:solidFill>
              </a:defRPr>
            </a:pPr>
            <a:r>
              <a:t>Mentor: Dr. Vandana Jha, Associate Professor  •  Manipal Institute of Technology Bengaluru, MAHE</a:t>
            </a:r>
          </a:p>
        </p:txBody>
      </p:sp>
      <p:sp>
        <p:nvSpPr>
          <p:cNvPr id="94" name="Google Shape;94;p1"/>
          <p:cNvSpPr/>
          <p:nvPr/>
        </p:nvSpPr>
        <p:spPr>
          <a:xfrm>
            <a:off x="18745200" y="27813000"/>
            <a:ext cx="16840200" cy="25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1778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 panose="020B0604020202020204"/>
              <a:buNone/>
            </a:pPr>
            <a:endParaRPr sz="2600" b="0" i="0" u="none" strike="noStrike" cap="none">
              <a:solidFill>
                <a:srgbClr val="003300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sp>
        <p:nvSpPr>
          <p:cNvPr id="96" name="Google Shape;96;p1"/>
          <p:cNvSpPr/>
          <p:nvPr/>
        </p:nvSpPr>
        <p:spPr>
          <a:xfrm>
            <a:off x="-838200" y="0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7" name="Google Shape;97;p1"/>
          <p:cNvSpPr/>
          <p:nvPr/>
        </p:nvSpPr>
        <p:spPr>
          <a:xfrm>
            <a:off x="838200" y="19567525"/>
            <a:ext cx="184150" cy="366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1" name="Google Shape;101;p1"/>
          <p:cNvSpPr/>
          <p:nvPr/>
        </p:nvSpPr>
        <p:spPr>
          <a:xfrm>
            <a:off x="0" y="0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2" name="Google Shape;102;p1"/>
          <p:cNvSpPr/>
          <p:nvPr/>
        </p:nvSpPr>
        <p:spPr>
          <a:xfrm>
            <a:off x="0" y="17940338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3" name="Google Shape;103;p1"/>
          <p:cNvSpPr/>
          <p:nvPr/>
        </p:nvSpPr>
        <p:spPr>
          <a:xfrm>
            <a:off x="0" y="17816513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4" name="Google Shape;104;p1"/>
          <p:cNvSpPr/>
          <p:nvPr/>
        </p:nvSpPr>
        <p:spPr>
          <a:xfrm>
            <a:off x="0" y="17816513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5" name="Google Shape;105;p1"/>
          <p:cNvSpPr txBox="1"/>
          <p:nvPr/>
        </p:nvSpPr>
        <p:spPr>
          <a:xfrm>
            <a:off x="18745200" y="31089600"/>
            <a:ext cx="13944600" cy="36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accent2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sp>
        <p:nvSpPr>
          <p:cNvPr id="106" name="Google Shape;106;p1"/>
          <p:cNvSpPr txBox="1"/>
          <p:nvPr/>
        </p:nvSpPr>
        <p:spPr>
          <a:xfrm>
            <a:off x="10058400" y="31318200"/>
            <a:ext cx="2362200" cy="48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 panose="020B0604020202020204"/>
              <a:buNone/>
            </a:pPr>
            <a:endParaRPr sz="2600" b="0" i="0" u="none" strike="noStrike" cap="none">
              <a:solidFill>
                <a:schemeClr val="lt2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sp>
        <p:nvSpPr>
          <p:cNvPr id="107" name="Google Shape;107;p1"/>
          <p:cNvSpPr/>
          <p:nvPr/>
        </p:nvSpPr>
        <p:spPr>
          <a:xfrm>
            <a:off x="0" y="17940338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8" name="Google Shape;108;p1"/>
          <p:cNvSpPr/>
          <p:nvPr/>
        </p:nvSpPr>
        <p:spPr>
          <a:xfrm>
            <a:off x="0" y="17940338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9" name="Google Shape;109;p1"/>
          <p:cNvSpPr txBox="1"/>
          <p:nvPr/>
        </p:nvSpPr>
        <p:spPr>
          <a:xfrm>
            <a:off x="22326600" y="7664450"/>
            <a:ext cx="2362200" cy="48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 panose="020B0604020202020204"/>
              <a:buNone/>
            </a:pPr>
            <a:endParaRPr sz="2600" b="0" i="0" u="none" strike="noStrike" cap="none">
              <a:solidFill>
                <a:schemeClr val="lt2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sp>
        <p:nvSpPr>
          <p:cNvPr id="111" name="Google Shape;111;p1"/>
          <p:cNvSpPr/>
          <p:nvPr/>
        </p:nvSpPr>
        <p:spPr>
          <a:xfrm>
            <a:off x="0" y="0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13" name="Google Shape;113;p1"/>
          <p:cNvSpPr/>
          <p:nvPr/>
        </p:nvSpPr>
        <p:spPr>
          <a:xfrm>
            <a:off x="0" y="0"/>
            <a:ext cx="3611880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14" name="Google Shape;114;p1"/>
          <p:cNvSpPr/>
          <p:nvPr/>
        </p:nvSpPr>
        <p:spPr>
          <a:xfrm>
            <a:off x="0" y="3295650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457200" y="2333625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457200" y="4038600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8" name="Google Shape;118;p1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2706013" y="13325475"/>
            <a:ext cx="609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9679900" y="13433425"/>
            <a:ext cx="609600" cy="609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7" name="Google Shape;127;p1"/>
          <p:cNvGrpSpPr/>
          <p:nvPr/>
        </p:nvGrpSpPr>
        <p:grpSpPr>
          <a:xfrm>
            <a:off x="250441" y="4755044"/>
            <a:ext cx="17344101" cy="3470500"/>
            <a:chOff x="26564019" y="8510092"/>
            <a:chExt cx="17344339" cy="3377182"/>
          </a:xfrm>
        </p:grpSpPr>
        <p:grpSp>
          <p:nvGrpSpPr>
            <p:cNvPr id="128" name="Google Shape;128;p1"/>
            <p:cNvGrpSpPr/>
            <p:nvPr/>
          </p:nvGrpSpPr>
          <p:grpSpPr>
            <a:xfrm>
              <a:off x="26650066" y="8510092"/>
              <a:ext cx="16741775" cy="1944346"/>
              <a:chOff x="26562754" y="7986218"/>
              <a:chExt cx="16741775" cy="1944346"/>
            </a:xfrm>
          </p:grpSpPr>
          <p:sp>
            <p:nvSpPr>
              <p:cNvPr id="148" name="Google Shape;148;p1"/>
              <p:cNvSpPr txBox="1"/>
              <p:nvPr/>
            </p:nvSpPr>
            <p:spPr>
              <a:xfrm>
                <a:off x="26811763" y="7986218"/>
                <a:ext cx="15773400" cy="6265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990000"/>
                  </a:buClr>
                  <a:buSzPts val="3600"/>
                  <a:buFont typeface="Comic Sans MS" panose="030F0702030302020204"/>
                  <a:buNone/>
                </a:pPr>
                <a:r>
                  <a:rPr lang="en-IN" sz="3600" b="1" i="0" u="none" strike="noStrike" cap="none" dirty="0">
                    <a:solidFill>
                      <a:srgbClr val="990000"/>
                    </a:solidFill>
                    <a:latin typeface="Comic Sans MS" panose="030F0702030302020204"/>
                    <a:ea typeface="Comic Sans MS" panose="030F0702030302020204"/>
                    <a:cs typeface="Comic Sans MS" panose="030F0702030302020204"/>
                    <a:sym typeface="Comic Sans MS" panose="030F0702030302020204"/>
                  </a:rPr>
                  <a:t>OBJECTIVE</a:t>
                </a:r>
              </a:p>
            </p:txBody>
          </p:sp>
          <p:sp>
            <p:nvSpPr>
              <p:cNvPr id="149" name="Google Shape;149;p1"/>
              <p:cNvSpPr txBox="1"/>
              <p:nvPr/>
            </p:nvSpPr>
            <p:spPr>
              <a:xfrm>
                <a:off x="26562754" y="8642750"/>
                <a:ext cx="16741775" cy="12878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 algn="just">
                  <a:buClr>
                    <a:schemeClr val="dk1"/>
                  </a:buClr>
                  <a:buSzPts val="4000"/>
                </a:pPr>
                <a:endParaRPr lang="en-US" sz="8000" b="0" i="0" u="none" strike="noStrike" cap="none" dirty="0">
                  <a:solidFill>
                    <a:schemeClr val="dk1"/>
                  </a:solidFill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endParaRPr>
              </a:p>
            </p:txBody>
          </p:sp>
        </p:grpSp>
        <p:sp>
          <p:nvSpPr>
            <p:cNvPr id="150" name="Google Shape;150;p1"/>
            <p:cNvSpPr txBox="1"/>
            <p:nvPr/>
          </p:nvSpPr>
          <p:spPr>
            <a:xfrm>
              <a:off x="26564019" y="11140820"/>
              <a:ext cx="17344339" cy="746454"/>
            </a:xfrm>
            <a:prstGeom prst="rect">
              <a:avLst/>
            </a:prstGeom>
            <a:solidFill>
              <a:srgbClr val="FFC000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2060"/>
                </a:buClr>
                <a:buSzPts val="4400"/>
                <a:buFont typeface="Comic Sans MS" panose="030F0702030302020204"/>
                <a:buNone/>
              </a:pPr>
              <a:r>
                <a:rPr lang="en-IN" sz="4400" b="1" i="0" u="none" strike="noStrike" cap="none" dirty="0">
                  <a:solidFill>
                    <a:srgbClr val="002060"/>
                  </a:solidFill>
                  <a:latin typeface="Comic Sans MS" panose="030F0702030302020204"/>
                  <a:ea typeface="Comic Sans MS" panose="030F0702030302020204"/>
                  <a:cs typeface="Comic Sans MS" panose="030F0702030302020204"/>
                  <a:sym typeface="Comic Sans MS" panose="030F0702030302020204"/>
                </a:rPr>
                <a:t>                           Phase 1: Empathy </a:t>
              </a:r>
              <a:endParaRPr sz="4400" b="1" i="0" u="none" strike="noStrike" cap="none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endParaRPr>
            </a:p>
          </p:txBody>
        </p:sp>
      </p:grpSp>
      <p:sp>
        <p:nvSpPr>
          <p:cNvPr id="161" name="Google Shape;161;p1"/>
          <p:cNvSpPr txBox="1"/>
          <p:nvPr/>
        </p:nvSpPr>
        <p:spPr>
          <a:xfrm>
            <a:off x="1014487" y="31253388"/>
            <a:ext cx="1631665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5715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Noto Sans Symbols"/>
              <a:buNone/>
            </a:pPr>
            <a:endParaRPr sz="36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1" name="Google Shape;171;p1"/>
          <p:cNvSpPr txBox="1"/>
          <p:nvPr/>
        </p:nvSpPr>
        <p:spPr>
          <a:xfrm>
            <a:off x="418350" y="25701854"/>
            <a:ext cx="17671415" cy="767080"/>
          </a:xfrm>
          <a:prstGeom prst="rect">
            <a:avLst/>
          </a:prstGeom>
          <a:solidFill>
            <a:srgbClr val="FFC000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omic Sans MS" panose="030F0702030302020204"/>
              <a:buNone/>
            </a:pPr>
            <a:r>
              <a:rPr lang="en-IN" sz="4400" b="1" u="none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                          Phase 2</a:t>
            </a:r>
            <a:r>
              <a:rPr lang="en-IN" sz="4400" b="1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: Analyse</a:t>
            </a:r>
            <a:r>
              <a:rPr lang="en-IN" sz="4400" b="1" u="none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</a:t>
            </a:r>
            <a:endParaRPr sz="4400" b="1" u="none" dirty="0">
              <a:solidFill>
                <a:srgbClr val="002060"/>
              </a:solidFill>
              <a:latin typeface="Comic Sans MS" panose="030F0702030302020204"/>
              <a:ea typeface="Comic Sans MS" panose="030F0702030302020204"/>
              <a:cs typeface="Comic Sans MS" panose="030F0702030302020204"/>
              <a:sym typeface="Comic Sans MS" panose="030F0702030302020204"/>
            </a:endParaRPr>
          </a:p>
        </p:txBody>
      </p:sp>
      <p:sp>
        <p:nvSpPr>
          <p:cNvPr id="172" name="Google Shape;172;p1"/>
          <p:cNvSpPr txBox="1"/>
          <p:nvPr/>
        </p:nvSpPr>
        <p:spPr>
          <a:xfrm>
            <a:off x="18705783" y="5012329"/>
            <a:ext cx="16955295" cy="769441"/>
          </a:xfrm>
          <a:prstGeom prst="rect">
            <a:avLst/>
          </a:prstGeom>
          <a:solidFill>
            <a:srgbClr val="FFC000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omic Sans MS" panose="030F0702030302020204"/>
              <a:buNone/>
            </a:pPr>
            <a:r>
              <a:rPr lang="en-IN" sz="4400" b="1" u="none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                          Phase </a:t>
            </a:r>
            <a:r>
              <a:rPr lang="en-IN" sz="4400" b="1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3: Solve</a:t>
            </a:r>
            <a:r>
              <a:rPr lang="en-IN" sz="4400" b="1" u="none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 </a:t>
            </a:r>
            <a:endParaRPr sz="4400" b="1" u="none" dirty="0">
              <a:solidFill>
                <a:srgbClr val="002060"/>
              </a:solidFill>
              <a:latin typeface="Comic Sans MS" panose="030F0702030302020204"/>
              <a:ea typeface="Comic Sans MS" panose="030F0702030302020204"/>
              <a:cs typeface="Comic Sans MS" panose="030F0702030302020204"/>
              <a:sym typeface="Comic Sans MS" panose="030F0702030302020204"/>
            </a:endParaRPr>
          </a:p>
        </p:txBody>
      </p:sp>
      <p:sp>
        <p:nvSpPr>
          <p:cNvPr id="173" name="Google Shape;173;p1"/>
          <p:cNvSpPr txBox="1"/>
          <p:nvPr/>
        </p:nvSpPr>
        <p:spPr>
          <a:xfrm>
            <a:off x="18745200" y="13516198"/>
            <a:ext cx="16955295" cy="769441"/>
          </a:xfrm>
          <a:prstGeom prst="rect">
            <a:avLst/>
          </a:prstGeom>
          <a:solidFill>
            <a:srgbClr val="FFC000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omic Sans MS" panose="030F0702030302020204"/>
              <a:buNone/>
            </a:pPr>
            <a:r>
              <a:rPr lang="en-IN" sz="4400" b="1" u="none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                          Phase 4:</a:t>
            </a:r>
            <a:r>
              <a:rPr lang="en-IN" sz="4400" b="1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Test/Prototype</a:t>
            </a:r>
            <a:r>
              <a:rPr lang="en-IN" sz="4400" b="1" u="none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</a:t>
            </a:r>
            <a:endParaRPr sz="4400" b="1" u="none" dirty="0">
              <a:solidFill>
                <a:srgbClr val="002060"/>
              </a:solidFill>
              <a:latin typeface="Comic Sans MS" panose="030F0702030302020204"/>
              <a:ea typeface="Comic Sans MS" panose="030F0702030302020204"/>
              <a:cs typeface="Comic Sans MS" panose="030F0702030302020204"/>
              <a:sym typeface="Comic Sans MS" panose="030F0702030302020204"/>
            </a:endParaRPr>
          </a:p>
        </p:txBody>
      </p:sp>
      <p:sp>
        <p:nvSpPr>
          <p:cNvPr id="175" name="Google Shape;175;p1"/>
          <p:cNvSpPr txBox="1"/>
          <p:nvPr/>
        </p:nvSpPr>
        <p:spPr>
          <a:xfrm>
            <a:off x="18428097" y="27678981"/>
            <a:ext cx="16955295" cy="769441"/>
          </a:xfrm>
          <a:prstGeom prst="rect">
            <a:avLst/>
          </a:prstGeom>
          <a:solidFill>
            <a:srgbClr val="FFC000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omic Sans MS" panose="030F0702030302020204"/>
              <a:buNone/>
            </a:pPr>
            <a:r>
              <a:rPr lang="en-IN" sz="4400" b="1" u="none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                          Outcome </a:t>
            </a:r>
            <a:endParaRPr sz="4400" b="1" u="none">
              <a:solidFill>
                <a:srgbClr val="002060"/>
              </a:solidFill>
              <a:latin typeface="Comic Sans MS" panose="030F0702030302020204"/>
              <a:ea typeface="Comic Sans MS" panose="030F0702030302020204"/>
              <a:cs typeface="Comic Sans MS" panose="030F0702030302020204"/>
              <a:sym typeface="Comic Sans MS" panose="030F0702030302020204"/>
            </a:endParaRPr>
          </a:p>
        </p:txBody>
      </p:sp>
      <p:sp>
        <p:nvSpPr>
          <p:cNvPr id="178" name="Google Shape;178;p1"/>
          <p:cNvSpPr txBox="1"/>
          <p:nvPr/>
        </p:nvSpPr>
        <p:spPr>
          <a:xfrm>
            <a:off x="3179570" y="537346"/>
            <a:ext cx="3810000" cy="12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r>
              <a:t>MIT</a:t>
            </a:r>
          </a:p>
          <a:p>
            <a:r>
              <a:t>Bengaluru</a:t>
            </a:r>
          </a:p>
        </p:txBody>
      </p:sp>
      <p:sp>
        <p:nvSpPr>
          <p:cNvPr id="34" name="AutoShape 6">
            <a:extLst>
              <a:ext uri="{FF2B5EF4-FFF2-40B4-BE49-F238E27FC236}">
                <a16:creationId xmlns:a16="http://schemas.microsoft.com/office/drawing/2014/main" id="{778CA0F8-41E2-C4B4-D1EC-F6EDBD14584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907000" y="17907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9E2123-A867-E184-0F1F-4992FD6352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87" y="284648"/>
            <a:ext cx="9950513" cy="1591751"/>
          </a:xfrm>
          <a:prstGeom prst="rect">
            <a:avLst/>
          </a:prstGeom>
        </p:spPr>
      </p:pic>
      <p:sp>
        <p:nvSpPr>
          <p:cNvPr id="179" name="Rounded Rectangle 178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183" name="Picture 182" descr="screensh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184" name="Rounded Rectangle 183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189" name="Picture 188" descr="screensh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190" name="Rounded Rectangle 189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195" name="Picture 194" descr="screensho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196" name="Rounded Rectangle 195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01" name="Picture 20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02" name="Rounded Rectangle 201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07" name="Picture 206" descr="screensh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08" name="Rounded Rectangle 207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13" name="Picture 2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14" name="Rounded Rectangle 213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19" name="Picture 218" descr="screensho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20" name="Rounded Rectangle 219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25" name="Picture 224" descr="screensho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26" name="Rounded Rectangle 225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31" name="Picture 23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32" name="Rounded Rectangle 231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37" name="Picture 23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38" name="Rounded Rectangle 237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43" name="Picture 24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44" name="Rounded Rectangle 243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Peer Walkthrough &amp; Thematic Validation: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Zero-Knowledge Safety: Female hostel students praised complete concealment of phone numbers &amp; room details.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On-Spot UPI Trust: Direct scan-and-pay eliminates fear of advance app escrow lock-in.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Transparent Fixed Pricing: Freshers confirmed total relief from opaque 'DM for price' culture.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Campus Impact: Prevents recurring spending on 1-semester gear and recirculates idle resources within MIT Bengaluru.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45" name="Rounded Rectangle 244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Qualitative Field Insights (MIT Bengaluru Campus):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48" name="Rounded Rectangle 247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Sustainability Tracking: Recirculates idle items and protects pocket money with 0% platform fee.</a:t>
            </a:r>
          </a:p>
        </p:txBody>
      </p:sp>
      <p:pic>
        <p:nvPicPr>
          <p:cNvPr id="249" name="Picture 248" descr="clean_cards_two_co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50" name="Rounded Rectangle 249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Peer Walkthrough &amp; Thematic Validation: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Zero-Knowledge Safety: Female hostel students praised complete concealment of phone numbers &amp; room details.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On-Spot UPI Trust: Direct scan-and-pay eliminates fear of advance app escrow lock-in.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Transparent Fixed Pricing: Freshers confirmed total relief from opaque 'DM for price' culture.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Campus Impact: Prevents recurring spending on 1-semester gear and recirculates idle resources within MIT Bengaluru.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Qualitative Field Insights (MIT Bengaluru Campus):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Sustainability Tracking: Recirculates idle items and protects pocket money with 0% platform fee.</a:t>
            </a:r>
          </a:p>
        </p:txBody>
      </p:sp>
      <p:pic>
        <p:nvPicPr>
          <p:cNvPr id="255" name="Picture 25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56" name="Rounded Rectangle 255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Peer Walkthrough &amp; Thematic Validation: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Zero-Knowledge Safety: Female hostel students praised complete concealment of phone numbers &amp; room details.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On-Spot UPI Trust: Direct scan-and-pay eliminates fear of advance app escrow lock-in.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Transparent Fixed Pricing: Freshers confirmed total relief from opaque 'DM for price' culture.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Campus Impact: Prevents recurring spending on 1-semester gear and recirculates idle resources within MIT Bengaluru.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57" name="Rounded Rectangle 256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Qualitative Field Insights (MIT Bengaluru Campus):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58" name="Rounded Rectangle 257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59" name="Rounded Rectangle 258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60" name="Rounded Rectangle 259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Sustainability Tracking: Recirculates idle items and protects pocket money with 0% platform fee.</a:t>
            </a:r>
          </a:p>
        </p:txBody>
      </p:sp>
      <p:pic>
        <p:nvPicPr>
          <p:cNvPr id="261" name="Picture 26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62" name="Rounded Rectangle 261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Peer Walkthrough &amp; Thematic Validation: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Zero-Knowledge Safety: Female hostel students praised complete concealment of phone numbers &amp; room details.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On-Spot UPI Trust: Direct scan-and-pay eliminates fear of advance app escrow lock-in.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Transparent Fixed Pricing: Freshers confirmed total relief from opaque 'DM for price' culture.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Campus Impact: Prevents recurring spending on 1-semester gear and recirculates idle resources within MIT Bengaluru.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63" name="Rounded Rectangle 262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Qualitative Field Insights (MIT Bengaluru Campus):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64" name="Rounded Rectangle 263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65" name="Rounded Rectangle 264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66" name="Rounded Rectangle 265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Sustainability Tracking: Recirculates idle items and protects pocket money with 0% platform fee.</a:t>
            </a:r>
          </a:p>
        </p:txBody>
      </p:sp>
      <p:pic>
        <p:nvPicPr>
          <p:cNvPr id="267" name="Picture 26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68" name="Rounded Rectangle 267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Peer Walkthrough &amp; Thematic Validation: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Zero-Knowledge Safety: Female hostel students praised complete concealment of phone numbers &amp; room details.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On-Spot UPI Trust: Direct scan-and-pay eliminates fear of advance app escrow lock-in.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Transparent Fixed Pricing: Freshers confirmed total relief from opaque 'DM for price' culture.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Campus Impact: Prevents recurring spending on 1-semester gear and recirculates idle resources within MIT Bengaluru.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84</Words>
  <Application>Microsoft Office PowerPoint</Application>
  <PresentationFormat>Custom</PresentationFormat>
  <Paragraphs>14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Georgia</vt:lpstr>
      <vt:lpstr>Tahoma</vt:lpstr>
      <vt:lpstr>Helvetica Neue</vt:lpstr>
      <vt:lpstr>Noto Sans Symbols</vt:lpstr>
      <vt:lpstr>Trebuchet MS</vt:lpstr>
      <vt:lpstr>Times New Roman</vt:lpstr>
      <vt:lpstr>Arial</vt:lpstr>
      <vt:lpstr>Comic Sans MS</vt:lpstr>
      <vt:lpstr>Default Design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india</dc:creator>
  <cp:lastModifiedBy>Vandana Jha [MAHE-MITBLR]</cp:lastModifiedBy>
  <cp:revision>22</cp:revision>
  <dcterms:created xsi:type="dcterms:W3CDTF">2020-07-26T16:54:19Z</dcterms:created>
  <dcterms:modified xsi:type="dcterms:W3CDTF">2026-10-01T10:54:29Z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1033-11.2.0.9453</vt:lpwstr>
  </property>
</Properties>
</file>