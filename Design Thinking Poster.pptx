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6118800" cy="36118800"/>
  <p:notesSz cx="6858000" cy="9144000"/>
  <p:embeddedFontLst>
    <p:embeddedFont>
      <p:font typeface="Comic Sans MS" panose="030F0702030302020204" pitchFamily="66" charset="0"/>
      <p:regular r:id="rId4"/>
      <p:bold r:id="rId5"/>
      <p:italic r:id="rId6"/>
      <p:boldItalic r:id="rId7"/>
    </p:embeddedFont>
    <p:embeddedFont>
      <p:font typeface="Georgia" panose="02040502050405020303" pitchFamily="18" charset="0"/>
      <p:regular r:id="rId8"/>
      <p:bold r:id="rId9"/>
      <p:italic r:id="rId10"/>
      <p:boldItalic r:id="rId11"/>
    </p:embeddedFont>
    <p:embeddedFont>
      <p:font typeface="Helvetica Neue" panose="020B0604020202020204" charset="0"/>
      <p:bold r:id="rId12"/>
      <p:boldItalic r:id="rId13"/>
    </p:embeddedFont>
    <p:embeddedFont>
      <p:font typeface="Tahoma" panose="020B0604030504040204" pitchFamily="34" charset="0"/>
      <p:regular r:id="rId14"/>
      <p:bold r:id="rId15"/>
    </p:embeddedFont>
    <p:embeddedFont>
      <p:font typeface="Trebuchet MS" panose="020B0603020202020204" pitchFamily="34" charset="0"/>
      <p:regular r:id="rId16"/>
      <p:bold r:id="rId17"/>
      <p:italic r:id="rId18"/>
      <p:boldItalic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1376">
          <p15:clr>
            <a:srgbClr val="A4A3A4"/>
          </p15:clr>
        </p15:guide>
        <p15:guide id="2" pos="1137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63A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0" d="100"/>
          <a:sy n="20" d="100"/>
        </p:scale>
        <p:origin x="968" y="12"/>
      </p:cViewPr>
      <p:guideLst>
        <p:guide orient="horz" pos="11376"/>
        <p:guide pos="1137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font" Target="fonts/font1.fntdata"/><Relationship Id="rId5" Type="http://schemas.openxmlformats.org/officeDocument/2006/relationships/font" Target="fonts/font2.fntdata"/><Relationship Id="rId6" Type="http://schemas.openxmlformats.org/officeDocument/2006/relationships/font" Target="fonts/font3.fntdata"/><Relationship Id="rId7" Type="http://schemas.openxmlformats.org/officeDocument/2006/relationships/font" Target="fonts/font4.fntdata"/><Relationship Id="rId8" Type="http://schemas.openxmlformats.org/officeDocument/2006/relationships/font" Target="fonts/font5.fntdata"/><Relationship Id="rId9" Type="http://schemas.openxmlformats.org/officeDocument/2006/relationships/font" Target="fonts/font6.fntdata"/><Relationship Id="rId10" Type="http://schemas.openxmlformats.org/officeDocument/2006/relationships/font" Target="fonts/font7.fntdata"/><Relationship Id="rId11" Type="http://schemas.openxmlformats.org/officeDocument/2006/relationships/font" Target="fonts/font8.fntdata"/><Relationship Id="rId12" Type="http://schemas.openxmlformats.org/officeDocument/2006/relationships/font" Target="fonts/font9.fntdata"/><Relationship Id="rId13" Type="http://schemas.openxmlformats.org/officeDocument/2006/relationships/font" Target="fonts/font10.fntdata"/><Relationship Id="rId14" Type="http://schemas.openxmlformats.org/officeDocument/2006/relationships/font" Target="fonts/font11.fntdata"/><Relationship Id="rId15" Type="http://schemas.openxmlformats.org/officeDocument/2006/relationships/font" Target="fonts/font12.fntdata"/><Relationship Id="rId16" Type="http://schemas.openxmlformats.org/officeDocument/2006/relationships/font" Target="fonts/font13.fntdata"/><Relationship Id="rId17" Type="http://schemas.openxmlformats.org/officeDocument/2006/relationships/font" Target="fonts/font14.fntdata"/><Relationship Id="rId18" Type="http://schemas.openxmlformats.org/officeDocument/2006/relationships/font" Target="fonts/font15.fntdata"/><Relationship Id="rId19" Type="http://schemas.openxmlformats.org/officeDocument/2006/relationships/font" Target="fonts/font16.fntdata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716088" y="685800"/>
            <a:ext cx="3427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193969306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716088" y="685800"/>
            <a:ext cx="3427412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308660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2708275" y="11220450"/>
            <a:ext cx="30702250" cy="77422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5418138" y="20467638"/>
            <a:ext cx="25282525" cy="922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Arial" panose="020B0604020202020204"/>
              <a:buNone/>
              <a:defRPr/>
            </a:lvl1pPr>
            <a:lvl2pPr lvl="1" algn="ctr"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Arial" panose="020B0604020202020204"/>
              <a:buNone/>
              <a:defRPr/>
            </a:lvl2pPr>
            <a:lvl3pPr lvl="2" algn="ctr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 panose="020B0604020202020204"/>
              <a:buNone/>
              <a:defRPr/>
            </a:lvl3pPr>
            <a:lvl4pPr lvl="3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None/>
              <a:defRPr/>
            </a:lvl4pPr>
            <a:lvl5pPr lvl="4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None/>
              <a:defRPr/>
            </a:lvl5pPr>
            <a:lvl6pPr lvl="5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None/>
              <a:defRPr/>
            </a:lvl6pPr>
            <a:lvl7pPr lvl="6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None/>
              <a:defRPr/>
            </a:lvl7pPr>
            <a:lvl8pPr lvl="7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None/>
              <a:defRPr/>
            </a:lvl8pPr>
            <a:lvl9pPr lvl="8" algn="ctr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1806575" y="1446213"/>
            <a:ext cx="325056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1806575" y="8428038"/>
            <a:ext cx="32505650" cy="2383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2852738" y="23209250"/>
            <a:ext cx="30700662" cy="7173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2852738" y="15308263"/>
            <a:ext cx="30700662" cy="7900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b" anchorCtr="0">
            <a:no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/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1806575" y="1446213"/>
            <a:ext cx="325056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1806575" y="8428038"/>
            <a:ext cx="16176624" cy="2383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18135600" y="8428038"/>
            <a:ext cx="16176624" cy="2383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»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806575" y="1446213"/>
            <a:ext cx="325056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806575" y="8085138"/>
            <a:ext cx="15957550" cy="336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1806575" y="11453813"/>
            <a:ext cx="15957550" cy="2081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18348325" y="8085138"/>
            <a:ext cx="15963900" cy="3368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18348325" y="11453813"/>
            <a:ext cx="15963900" cy="2081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 panose="020B0604020202020204"/>
              <a:buChar char="»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1806575" y="1446213"/>
            <a:ext cx="325056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0"/>
          <p:cNvSpPr txBox="1">
            <a:spLocks noGrp="1"/>
          </p:cNvSpPr>
          <p:nvPr>
            <p:ph type="title"/>
          </p:nvPr>
        </p:nvSpPr>
        <p:spPr>
          <a:xfrm>
            <a:off x="1806575" y="1438275"/>
            <a:ext cx="11882438" cy="6119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14120813" y="1438275"/>
            <a:ext cx="20191412" cy="30826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»"/>
              <a:defRPr sz="2000"/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body" idx="2"/>
          </p:nvPr>
        </p:nvSpPr>
        <p:spPr>
          <a:xfrm>
            <a:off x="1806575" y="7558088"/>
            <a:ext cx="11882438" cy="2470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0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1"/>
          <p:cNvSpPr txBox="1">
            <a:spLocks noGrp="1"/>
          </p:cNvSpPr>
          <p:nvPr>
            <p:ph type="title"/>
          </p:nvPr>
        </p:nvSpPr>
        <p:spPr>
          <a:xfrm>
            <a:off x="7080250" y="25282525"/>
            <a:ext cx="21670963" cy="2986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>
            <a:spLocks noGrp="1"/>
          </p:cNvSpPr>
          <p:nvPr>
            <p:ph type="pic" idx="2"/>
          </p:nvPr>
        </p:nvSpPr>
        <p:spPr>
          <a:xfrm>
            <a:off x="7080250" y="3227388"/>
            <a:ext cx="21670963" cy="21670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 panose="020B0604020202020204"/>
              <a:buNone/>
              <a:defRPr sz="3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None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68" name="Google Shape;68;p11"/>
          <p:cNvSpPr txBox="1">
            <a:spLocks noGrp="1"/>
          </p:cNvSpPr>
          <p:nvPr>
            <p:ph type="body" idx="1"/>
          </p:nvPr>
        </p:nvSpPr>
        <p:spPr>
          <a:xfrm>
            <a:off x="7080250" y="28268613"/>
            <a:ext cx="21670963" cy="423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 panose="020B0604020202020204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 panose="020B0604020202020204"/>
              <a:buNone/>
              <a:defRPr sz="900"/>
            </a:lvl9pPr>
          </a:lstStyle>
          <a:p>
            <a:endParaRPr/>
          </a:p>
        </p:txBody>
      </p:sp>
      <p:sp>
        <p:nvSpPr>
          <p:cNvPr id="69" name="Google Shape;69;p11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>
            <a:spLocks noGrp="1"/>
          </p:cNvSpPr>
          <p:nvPr>
            <p:ph type="title"/>
          </p:nvPr>
        </p:nvSpPr>
        <p:spPr>
          <a:xfrm>
            <a:off x="1806575" y="1446213"/>
            <a:ext cx="325056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2"/>
          <p:cNvSpPr txBox="1">
            <a:spLocks noGrp="1"/>
          </p:cNvSpPr>
          <p:nvPr>
            <p:ph type="body" idx="1"/>
          </p:nvPr>
        </p:nvSpPr>
        <p:spPr>
          <a:xfrm rot="5400000">
            <a:off x="6141244" y="4093370"/>
            <a:ext cx="23836312" cy="32505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75" name="Google Shape;75;p12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>
            <a:spLocks noGrp="1"/>
          </p:cNvSpPr>
          <p:nvPr>
            <p:ph type="title"/>
          </p:nvPr>
        </p:nvSpPr>
        <p:spPr>
          <a:xfrm rot="5400000">
            <a:off x="14839950" y="12792076"/>
            <a:ext cx="30818138" cy="8126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body" idx="1"/>
          </p:nvPr>
        </p:nvSpPr>
        <p:spPr>
          <a:xfrm rot="5400000">
            <a:off x="-1489076" y="4741863"/>
            <a:ext cx="30818138" cy="24226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>
              <a:spcBef>
                <a:spcPts val="0"/>
              </a:spcBef>
              <a:spcAft>
                <a:spcPts val="0"/>
              </a:spcAft>
              <a:buNone/>
              <a:defRPr sz="6300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title"/>
          </p:nvPr>
        </p:nvSpPr>
        <p:spPr>
          <a:xfrm>
            <a:off x="1806575" y="1446213"/>
            <a:ext cx="32505650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99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body" idx="1"/>
          </p:nvPr>
        </p:nvSpPr>
        <p:spPr>
          <a:xfrm>
            <a:off x="1806575" y="8428038"/>
            <a:ext cx="32505650" cy="23836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457200" marR="0" lvl="0" indent="-1143000" algn="l" rtl="0">
              <a:spcBef>
                <a:spcPts val="2880"/>
              </a:spcBef>
              <a:spcAft>
                <a:spcPts val="0"/>
              </a:spcAft>
              <a:buClr>
                <a:schemeClr val="dk1"/>
              </a:buClr>
              <a:buSzPts val="14400"/>
              <a:buFont typeface="Arial" panose="020B0604020202020204"/>
              <a:buChar char="•"/>
              <a:defRPr sz="14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1028700" algn="l" rtl="0">
              <a:spcBef>
                <a:spcPts val="2520"/>
              </a:spcBef>
              <a:spcAft>
                <a:spcPts val="0"/>
              </a:spcAft>
              <a:buClr>
                <a:schemeClr val="dk1"/>
              </a:buClr>
              <a:buSzPts val="12600"/>
              <a:buFont typeface="Arial" panose="020B0604020202020204"/>
              <a:buChar char="–"/>
              <a:defRPr sz="126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914400" algn="l" rtl="0">
              <a:spcBef>
                <a:spcPts val="2160"/>
              </a:spcBef>
              <a:spcAft>
                <a:spcPts val="0"/>
              </a:spcAft>
              <a:buClr>
                <a:schemeClr val="dk1"/>
              </a:buClr>
              <a:buSzPts val="10800"/>
              <a:buFont typeface="Arial" panose="020B0604020202020204"/>
              <a:buChar char="•"/>
              <a:defRPr sz="10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8001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Char char="–"/>
              <a:defRPr sz="9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8001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Char char="»"/>
              <a:defRPr sz="9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8001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Char char="»"/>
              <a:defRPr sz="9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8001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Char char="»"/>
              <a:defRPr sz="9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8001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Char char="»"/>
              <a:defRPr sz="9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800100" algn="l" rtl="0">
              <a:spcBef>
                <a:spcPts val="1800"/>
              </a:spcBef>
              <a:spcAft>
                <a:spcPts val="0"/>
              </a:spcAft>
              <a:buClr>
                <a:schemeClr val="dk1"/>
              </a:buClr>
              <a:buSzPts val="9000"/>
              <a:buFont typeface="Arial" panose="020B0604020202020204"/>
              <a:buChar char="»"/>
              <a:defRPr sz="9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18065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12341225" y="32891413"/>
            <a:ext cx="114363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25885775" y="32891413"/>
            <a:ext cx="8426450" cy="2508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2775" tIns="206375" rIns="412775" bIns="206375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6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/>
          <a:tile tx="0" ty="0" sx="100000" sy="100000" flip="none" algn="tl"/>
        </a:blipFill>
        <a:effectLst/>
      </p:bgPr>
    </p:bg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"/>
          <p:cNvSpPr/>
          <p:nvPr/>
        </p:nvSpPr>
        <p:spPr>
          <a:xfrm>
            <a:off x="171450" y="152400"/>
            <a:ext cx="35680650" cy="4291013"/>
          </a:xfrm>
          <a:prstGeom prst="roundRect">
            <a:avLst>
              <a:gd name="adj" fmla="val 10514"/>
            </a:avLst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4038599" y="94552"/>
            <a:ext cx="28956001" cy="16903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 b="1">
                <a:solidFill>
                  <a:srgbClr val="FFFFFF"/>
                </a:solidFill>
              </a:defRPr>
            </a:pPr>
            <a:r>
              <a:t>DESIGN THINKING (HUM_4342)</a:t>
            </a:r>
          </a:p>
          <a:p>
            <a:pPr algn="ctr">
              <a:defRPr b="1">
                <a:solidFill>
                  <a:srgbClr val="FFFFFF"/>
                </a:solidFill>
              </a:defRPr>
            </a:pPr>
            <a:r>
              <a:t>CampusShare: Peer-to-Peer Campus Resource &amp; Book Exchange</a:t>
            </a:r>
          </a:p>
        </p:txBody>
      </p:sp>
      <p:sp>
        <p:nvSpPr>
          <p:cNvPr id="93" name="Google Shape;93;p1"/>
          <p:cNvSpPr txBox="1"/>
          <p:nvPr/>
        </p:nvSpPr>
        <p:spPr>
          <a:xfrm>
            <a:off x="4486831" y="1784922"/>
            <a:ext cx="28851225" cy="230828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defRPr>
                <a:solidFill>
                  <a:srgbClr val="F1F5F9"/>
                </a:solidFill>
              </a:defRPr>
            </a:pPr>
            <a:r>
              <a:t>Team Members: [Team Member 1 | Team Member 2]  •  Reg Nos: [2309xxxxx | 2309xxxxx]</a:t>
            </a:r>
          </a:p>
          <a:p>
            <a:pPr algn="ctr">
              <a:defRPr>
                <a:solidFill>
                  <a:srgbClr val="F1F5F9"/>
                </a:solidFill>
              </a:defRPr>
            </a:pPr>
            <a:r>
              <a:t>Mentor: Dr. Vandana Jha, Associate Professor  •  Manipal Institute of Technology Bengaluru, MAHE</a:t>
            </a:r>
          </a:p>
        </p:txBody>
      </p:sp>
      <p:sp>
        <p:nvSpPr>
          <p:cNvPr id="94" name="Google Shape;94;p1"/>
          <p:cNvSpPr/>
          <p:nvPr/>
        </p:nvSpPr>
        <p:spPr>
          <a:xfrm>
            <a:off x="18745200" y="27813000"/>
            <a:ext cx="16840200" cy="25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1778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endParaRPr sz="2600" b="0" i="0" u="none" strike="noStrike" cap="none">
              <a:solidFill>
                <a:srgbClr val="003300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-838200" y="0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838200" y="19567525"/>
            <a:ext cx="1841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1" name="Google Shape;101;p1"/>
          <p:cNvSpPr/>
          <p:nvPr/>
        </p:nvSpPr>
        <p:spPr>
          <a:xfrm>
            <a:off x="0" y="0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0" y="17940338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3" name="Google Shape;103;p1"/>
          <p:cNvSpPr/>
          <p:nvPr/>
        </p:nvSpPr>
        <p:spPr>
          <a:xfrm>
            <a:off x="0" y="17816513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0" y="17816513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8745200" y="31089600"/>
            <a:ext cx="13944600" cy="369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</a:pPr>
            <a:endParaRPr sz="1800" b="0" i="0" u="none" strike="noStrike" cap="none">
              <a:solidFill>
                <a:schemeClr val="accen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10058400" y="31318200"/>
            <a:ext cx="236220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endParaRPr sz="2600" b="0" i="0" u="none" strike="noStrike" cap="none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07" name="Google Shape;107;p1"/>
          <p:cNvSpPr/>
          <p:nvPr/>
        </p:nvSpPr>
        <p:spPr>
          <a:xfrm>
            <a:off x="0" y="17940338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8" name="Google Shape;108;p1"/>
          <p:cNvSpPr/>
          <p:nvPr/>
        </p:nvSpPr>
        <p:spPr>
          <a:xfrm>
            <a:off x="0" y="17940338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22326600" y="7664450"/>
            <a:ext cx="2362200" cy="488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 panose="020B0604020202020204"/>
              <a:buNone/>
            </a:pPr>
            <a:endParaRPr sz="2600" b="0" i="0" u="none" strike="noStrike" cap="none">
              <a:solidFill>
                <a:schemeClr val="lt2"/>
              </a:solidFill>
              <a:latin typeface="Georgia" panose="02040502050405020303"/>
              <a:ea typeface="Georgia" panose="02040502050405020303"/>
              <a:cs typeface="Georgia" panose="02040502050405020303"/>
              <a:sym typeface="Georgia" panose="02040502050405020303"/>
            </a:endParaRPr>
          </a:p>
        </p:txBody>
      </p:sp>
      <p:sp>
        <p:nvSpPr>
          <p:cNvPr id="111" name="Google Shape;111;p1"/>
          <p:cNvSpPr/>
          <p:nvPr/>
        </p:nvSpPr>
        <p:spPr>
          <a:xfrm>
            <a:off x="0" y="0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3" name="Google Shape;113;p1"/>
          <p:cNvSpPr/>
          <p:nvPr/>
        </p:nvSpPr>
        <p:spPr>
          <a:xfrm>
            <a:off x="0" y="0"/>
            <a:ext cx="36118801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0" y="3295650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457200" y="2333625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457200" y="4038600"/>
            <a:ext cx="36118801" cy="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100"/>
              <a:buFont typeface="Arial" panose="020B0604020202020204"/>
              <a:buNone/>
            </a:pPr>
            <a:endParaRPr sz="81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pic>
        <p:nvPicPr>
          <p:cNvPr id="118" name="Google Shape;118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2706013" y="13325475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29679900" y="13433425"/>
            <a:ext cx="609600" cy="609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7" name="Google Shape;127;p1"/>
          <p:cNvGrpSpPr/>
          <p:nvPr/>
        </p:nvGrpSpPr>
        <p:grpSpPr>
          <a:xfrm>
            <a:off x="250441" y="4755044"/>
            <a:ext cx="17344101" cy="3470500"/>
            <a:chOff x="26564019" y="8510092"/>
            <a:chExt cx="17344339" cy="3377182"/>
          </a:xfrm>
        </p:grpSpPr>
        <p:grpSp>
          <p:nvGrpSpPr>
            <p:cNvPr id="128" name="Google Shape;128;p1"/>
            <p:cNvGrpSpPr/>
            <p:nvPr/>
          </p:nvGrpSpPr>
          <p:grpSpPr>
            <a:xfrm>
              <a:off x="26650066" y="8510092"/>
              <a:ext cx="16741775" cy="1944346"/>
              <a:chOff x="26562754" y="7986218"/>
              <a:chExt cx="16741775" cy="1944346"/>
            </a:xfrm>
          </p:grpSpPr>
          <p:sp>
            <p:nvSpPr>
              <p:cNvPr id="148" name="Google Shape;148;p1"/>
              <p:cNvSpPr txBox="1"/>
              <p:nvPr/>
            </p:nvSpPr>
            <p:spPr>
              <a:xfrm>
                <a:off x="26811763" y="7986218"/>
                <a:ext cx="15773400" cy="6265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Clr>
                    <a:srgbClr val="990000"/>
                  </a:buClr>
                  <a:buSzPts val="3600"/>
                  <a:buFont typeface="Comic Sans MS" panose="030F0702030302020204"/>
                  <a:buNone/>
                </a:pPr>
                <a:r>
                  <a:rPr lang="en-IN" sz="3600" b="1" i="0" u="none" strike="noStrike" cap="none" dirty="0">
                    <a:solidFill>
                      <a:srgbClr val="990000"/>
                    </a:solidFill>
                    <a:latin typeface="Comic Sans MS" panose="030F0702030302020204"/>
                    <a:ea typeface="Comic Sans MS" panose="030F0702030302020204"/>
                    <a:cs typeface="Comic Sans MS" panose="030F0702030302020204"/>
                    <a:sym typeface="Comic Sans MS" panose="030F0702030302020204"/>
                  </a:rPr>
                  <a:t>OBJECTIVE</a:t>
                </a:r>
              </a:p>
            </p:txBody>
          </p:sp>
          <p:sp>
            <p:nvSpPr>
              <p:cNvPr id="149" name="Google Shape;149;p1"/>
              <p:cNvSpPr txBox="1"/>
              <p:nvPr/>
            </p:nvSpPr>
            <p:spPr>
              <a:xfrm>
                <a:off x="26562754" y="8642750"/>
                <a:ext cx="16741775" cy="12878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lvl="0" algn="just">
                  <a:buClr>
                    <a:schemeClr val="dk1"/>
                  </a:buClr>
                  <a:buSzPts val="4000"/>
                </a:pPr>
                <a:endParaRPr lang="en-US" sz="8000" b="0" i="0" u="none" strike="noStrike" cap="none" dirty="0">
                  <a:solidFill>
                    <a:schemeClr val="dk1"/>
                  </a:solidFill>
                  <a:latin typeface="Georgia" panose="02040502050405020303"/>
                  <a:ea typeface="Georgia" panose="02040502050405020303"/>
                  <a:cs typeface="Georgia" panose="02040502050405020303"/>
                  <a:sym typeface="Georgia" panose="02040502050405020303"/>
                </a:endParaRPr>
              </a:p>
            </p:txBody>
          </p:sp>
        </p:grpSp>
        <p:sp>
          <p:nvSpPr>
            <p:cNvPr id="150" name="Google Shape;150;p1"/>
            <p:cNvSpPr txBox="1"/>
            <p:nvPr/>
          </p:nvSpPr>
          <p:spPr>
            <a:xfrm>
              <a:off x="26564019" y="11140820"/>
              <a:ext cx="17344339" cy="746454"/>
            </a:xfrm>
            <a:prstGeom prst="rect">
              <a:avLst/>
            </a:prstGeom>
            <a:solidFill>
              <a:srgbClr val="FFC000"/>
            </a:solidFill>
            <a:ln w="9525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2060"/>
                </a:buClr>
                <a:buSzPts val="4400"/>
                <a:buFont typeface="Comic Sans MS" panose="030F0702030302020204"/>
                <a:buNone/>
              </a:pPr>
              <a:r>
                <a:rPr lang="en-IN" sz="4400" b="1" i="0" u="none" strike="noStrike" cap="none" dirty="0">
                  <a:solidFill>
                    <a:srgbClr val="002060"/>
                  </a:solidFill>
                  <a:latin typeface="Comic Sans MS" panose="030F0702030302020204"/>
                  <a:ea typeface="Comic Sans MS" panose="030F0702030302020204"/>
                  <a:cs typeface="Comic Sans MS" panose="030F0702030302020204"/>
                  <a:sym typeface="Comic Sans MS" panose="030F0702030302020204"/>
                </a:rPr>
                <a:t>                           Phase 1: Empathy </a:t>
              </a:r>
              <a:endParaRPr sz="4400" b="1" i="0" u="none" strike="noStrike" cap="none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endParaRPr>
            </a:p>
          </p:txBody>
        </p:sp>
      </p:grpSp>
      <p:sp>
        <p:nvSpPr>
          <p:cNvPr id="161" name="Google Shape;161;p1"/>
          <p:cNvSpPr txBox="1"/>
          <p:nvPr/>
        </p:nvSpPr>
        <p:spPr>
          <a:xfrm>
            <a:off x="1014487" y="31253388"/>
            <a:ext cx="1631665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5715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Noto Sans Symbols"/>
              <a:buNone/>
            </a:pPr>
            <a:endParaRPr sz="36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171" name="Google Shape;171;p1"/>
          <p:cNvSpPr txBox="1"/>
          <p:nvPr/>
        </p:nvSpPr>
        <p:spPr>
          <a:xfrm>
            <a:off x="418350" y="25701854"/>
            <a:ext cx="17671415" cy="76708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mic Sans MS" panose="030F0702030302020204"/>
              <a:buNone/>
            </a:pPr>
            <a:r>
              <a:rPr lang="en-IN" sz="4400" b="1" u="none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Phase 2</a:t>
            </a:r>
            <a:r>
              <a:rPr lang="en-IN" sz="4400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: Analyse</a:t>
            </a:r>
            <a:r>
              <a:rPr lang="en-IN" sz="4400" b="1" u="none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</a:t>
            </a:r>
            <a:endParaRPr sz="4400" b="1" u="none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2" name="Google Shape;172;p1"/>
          <p:cNvSpPr txBox="1"/>
          <p:nvPr/>
        </p:nvSpPr>
        <p:spPr>
          <a:xfrm>
            <a:off x="18705783" y="5012329"/>
            <a:ext cx="16955295" cy="769441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mic Sans MS" panose="030F0702030302020204"/>
              <a:buNone/>
            </a:pPr>
            <a:r>
              <a:rPr lang="en-IN" sz="4400" b="1" u="none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Phase </a:t>
            </a:r>
            <a:r>
              <a:rPr lang="en-IN" sz="4400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3: Solve</a:t>
            </a:r>
            <a:r>
              <a:rPr lang="en-IN" sz="4400" b="1" u="none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</a:t>
            </a:r>
            <a:endParaRPr sz="4400" b="1" u="none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3" name="Google Shape;173;p1"/>
          <p:cNvSpPr txBox="1"/>
          <p:nvPr/>
        </p:nvSpPr>
        <p:spPr>
          <a:xfrm>
            <a:off x="18745200" y="13516198"/>
            <a:ext cx="16955295" cy="769441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mic Sans MS" panose="030F0702030302020204"/>
              <a:buNone/>
            </a:pPr>
            <a:r>
              <a:rPr lang="en-IN" sz="4400" b="1" u="none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Phase 4:</a:t>
            </a:r>
            <a:r>
              <a:rPr lang="en-IN" sz="4400" b="1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Test/Prototype</a:t>
            </a:r>
            <a:r>
              <a:rPr lang="en-IN" sz="4400" b="1" u="none" dirty="0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</a:t>
            </a:r>
            <a:endParaRPr sz="4400" b="1" u="none" dirty="0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5" name="Google Shape;175;p1"/>
          <p:cNvSpPr txBox="1"/>
          <p:nvPr/>
        </p:nvSpPr>
        <p:spPr>
          <a:xfrm>
            <a:off x="18428097" y="27678981"/>
            <a:ext cx="16955295" cy="769441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2060"/>
              </a:buClr>
              <a:buSzPts val="4400"/>
              <a:buFont typeface="Comic Sans MS" panose="030F0702030302020204"/>
              <a:buNone/>
            </a:pPr>
            <a:r>
              <a:rPr lang="en-IN" sz="4400" b="1" u="none">
                <a:solidFill>
                  <a:srgbClr val="002060"/>
                </a:solidFill>
                <a:latin typeface="Comic Sans MS" panose="030F0702030302020204"/>
                <a:ea typeface="Comic Sans MS" panose="030F0702030302020204"/>
                <a:cs typeface="Comic Sans MS" panose="030F0702030302020204"/>
                <a:sym typeface="Comic Sans MS" panose="030F0702030302020204"/>
              </a:rPr>
              <a:t>                           Outcome </a:t>
            </a:r>
            <a:endParaRPr sz="4400" b="1" u="none">
              <a:solidFill>
                <a:srgbClr val="002060"/>
              </a:solidFill>
              <a:latin typeface="Comic Sans MS" panose="030F0702030302020204"/>
              <a:ea typeface="Comic Sans MS" panose="030F0702030302020204"/>
              <a:cs typeface="Comic Sans MS" panose="030F0702030302020204"/>
              <a:sym typeface="Comic Sans MS" panose="030F0702030302020204"/>
            </a:endParaRPr>
          </a:p>
        </p:txBody>
      </p:sp>
      <p:sp>
        <p:nvSpPr>
          <p:cNvPr id="178" name="Google Shape;178;p1"/>
          <p:cNvSpPr txBox="1"/>
          <p:nvPr/>
        </p:nvSpPr>
        <p:spPr>
          <a:xfrm>
            <a:off x="3179570" y="537346"/>
            <a:ext cx="3810000" cy="123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r>
              <a:t>MIT</a:t>
            </a:r>
          </a:p>
          <a:p>
            <a:r>
              <a:t>Bengaluru</a:t>
            </a:r>
          </a:p>
        </p:txBody>
      </p:sp>
      <p:sp>
        <p:nvSpPr>
          <p:cNvPr id="34" name="AutoShape 6">
            <a:extLst>
              <a:ext uri="{FF2B5EF4-FFF2-40B4-BE49-F238E27FC236}">
                <a16:creationId xmlns:a16="http://schemas.microsoft.com/office/drawing/2014/main" id="{778CA0F8-41E2-C4B4-D1EC-F6EDBD14584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7907000" y="17907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49E2123-A867-E184-0F1F-4992FD6352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87" y="284648"/>
            <a:ext cx="9950513" cy="1591751"/>
          </a:xfrm>
          <a:prstGeom prst="rect">
            <a:avLst/>
          </a:prstGeom>
        </p:spPr>
      </p:pic>
      <p:sp>
        <p:nvSpPr>
          <p:cNvPr id="179" name="Rounded Rectangle 178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180" name="Rounded Rectangle 179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181" name="Rounded Rectangle 180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182" name="Rounded Rectangle 181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183" name="Picture 182" descr="screensh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184" name="Rounded Rectangle 183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185" name="Rounded Rectangle 184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186" name="Rounded Rectangle 185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187" name="Rounded Rectangle 186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188" name="Rounded Rectangle 187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189" name="Picture 188" descr="screensh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190" name="Rounded Rectangle 189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191" name="Rounded Rectangle 190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192" name="Rounded Rectangle 191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193" name="Rounded Rectangle 192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194" name="Rounded Rectangle 193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195" name="Picture 194" descr="screensho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196" name="Rounded Rectangle 195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197" name="Rounded Rectangle 196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198" name="Rounded Rectangle 197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199" name="Rounded Rectangle 198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00" name="Rounded Rectangle 199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01" name="Picture 20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02" name="Rounded Rectangle 201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03" name="Rounded Rectangle 202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04" name="Rounded Rectangle 203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05" name="Rounded Rectangle 204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06" name="Rounded Rectangle 205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07" name="Picture 206" descr="screensho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08" name="Rounded Rectangle 207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09" name="Rounded Rectangle 208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11" name="Rounded Rectangle 210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12" name="Rounded Rectangle 211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13" name="Picture 212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14" name="Rounded Rectangle 213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15" name="Rounded Rectangle 214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16" name="Rounded Rectangle 215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18" name="Rounded Rectangle 217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19" name="Picture 218" descr="screensho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20" name="Rounded Rectangle 219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21" name="Rounded Rectangle 220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22" name="Rounded Rectangle 221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23" name="Rounded Rectangle 222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24" name="Rounded Rectangle 223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25" name="Picture 224" descr="screenshot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26" name="Rounded Rectangle 225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27" name="Rounded Rectangle 226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28" name="Rounded Rectangle 227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29" name="Rounded Rectangle 228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30" name="Rounded Rectangle 229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31" name="Picture 23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32" name="Rounded Rectangle 231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33" name="Rounded Rectangle 232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34" name="Rounded Rectangle 233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35" name="Rounded Rectangle 234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36" name="Rounded Rectangle 235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37" name="Picture 23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38" name="Rounded Rectangle 237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Testing Results (25 MIT Bengaluru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100% Task Completion Rate (Average search-to-request time: 38 seconds).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System Usability Scale (SUS) Score: 88.5 / 100 (Grade A+ - Exceptional Usability).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Measurable Campus Impact: Potential to save ₹30+ Lakhs and prevent 100+ kg of discarded academic waste annually across MIT Bengaluru campus.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39" name="Rounded Rectangle 238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User Pain Point (Survey of 25 MIT-B Students):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40" name="Rounded Rectangle 239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41" name="Rounded Rectangle 240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42" name="Rounded Rectangle 241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Impact Metrics: Tracks ₹ saved (₹3,40,000+) and items recycled in real-time.</a:t>
            </a:r>
          </a:p>
        </p:txBody>
      </p:sp>
      <p:pic>
        <p:nvPicPr>
          <p:cNvPr id="243" name="Picture 242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44" name="Rounded Rectangle 243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Peer Walkthrough &amp; Thematic Validation: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Zero-Knowledge Safety: Female hostel students praised complete concealment of phone numbers &amp; room details.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On-Spot UPI Trust: Direct scan-and-pay eliminates fear of advance app escrow lock-in.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Transparent Fixed Pricing: Freshers confirmed total relief from opaque 'DM for price' culture.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Campus Impact: Prevents recurring spending on 1-semester gear and recirculates idle resources within MIT Bengaluru.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45" name="Rounded Rectangle 244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Qualitative Field Insights (MIT Bengaluru Campus):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46" name="Rounded Rectangle 245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47" name="Rounded Rectangle 246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48" name="Rounded Rectangle 247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Sustainability Tracking: Recirculates idle items and protects pocket money with 0% platform fee.</a:t>
            </a:r>
          </a:p>
        </p:txBody>
      </p:sp>
      <p:pic>
        <p:nvPicPr>
          <p:cNvPr id="249" name="Picture 248" descr="clean_cards_two_col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50" name="Rounded Rectangle 249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Peer Walkthrough &amp; Thematic Validation: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Zero-Knowledge Safety: Female hostel students praised complete concealment of phone numbers &amp; room details.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On-Spot UPI Trust: Direct scan-and-pay eliminates fear of advance app escrow lock-in.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Transparent Fixed Pricing: Freshers confirmed total relief from opaque 'DM for price' culture.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Campus Impact: Prevents recurring spending on 1-semester gear and recirculates idle resources within MIT Bengaluru.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51" name="Rounded Rectangle 250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Qualitative Field Insights (MIT Bengaluru Campus):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52" name="Rounded Rectangle 251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53" name="Rounded Rectangle 252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54" name="Rounded Rectangle 253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Sustainability Tracking: Recirculates idle items and protects pocket money with 0% platform fee.</a:t>
            </a:r>
          </a:p>
        </p:txBody>
      </p:sp>
      <p:pic>
        <p:nvPicPr>
          <p:cNvPr id="255" name="Picture 25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56" name="Rounded Rectangle 255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Peer Walkthrough &amp; Thematic Validation: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Zero-Knowledge Safety: Female hostel students praised complete concealment of phone numbers &amp; room details.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On-Spot UPI Trust: Direct scan-and-pay eliminates fear of advance app escrow lock-in.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Transparent Fixed Pricing: Freshers confirmed total relief from opaque 'DM for price' culture.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Campus Impact: Prevents recurring spending on 1-semester gear and recirculates idle resources within MIT Bengaluru.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  <p:sp>
        <p:nvSpPr>
          <p:cNvPr id="257" name="Rounded Rectangle 256"/>
          <p:cNvSpPr/>
          <p:nvPr/>
        </p:nvSpPr>
        <p:spPr>
          <a:xfrm>
            <a:off x="1000000" y="5800000"/>
            <a:ext cx="16500000" cy="190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1: EMPATHY &amp; OBJECTIVE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Project Objective: Create a zero-friction, verified circular exchange platform allowing engineering students to Borrow, Rent, or Buy single-semester academic gear (textbooks, Casio fx-991 calculators, lab coats, drafters) from seniors at near-zero cost.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Qualitative Field Insights (MIT Bengaluru Campus):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- 88% of freshers spend ₹2,500–₹4,500 every semester on specialized gear used for only 16 weeks.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- 92% of seniors have 3+ textbooks &amp; tools sitting idle in hostel cupboards with no easy way to transfer them.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Existing WhatsApp groups fail: notices get buried under hundreds of messages within 15 minutes.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Customer Journey Mapping Highlights: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Touchpoints: Syllabus release -&gt; WhatsApp panic -&gt; Senior negotiation -&gt; Handover friction -&gt; Disposal.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- Emotional Dip: High anxiety during 1st month due to unexpected equipment expenses.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Problem Statement: Freshers face recurring financial burdens while seniors hoard unused academic supplies, caused by the absence of a structured, campus-verified peer-to-peer exchange.</a:t>
            </a:r>
          </a:p>
        </p:txBody>
      </p:sp>
      <p:sp>
        <p:nvSpPr>
          <p:cNvPr id="258" name="Rounded Rectangle 257"/>
          <p:cNvSpPr/>
          <p:nvPr/>
        </p:nvSpPr>
        <p:spPr>
          <a:xfrm>
            <a:off x="1000000" y="26800000"/>
            <a:ext cx="16500000" cy="8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2: ANALYSE &amp; ROOT CAUSE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5-Whys Root Cause Analysis: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1. Why do freshers overspend on tools? They buy brand new items from external stores.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2. Why don't they get them from seniors? Unused items remain locked in seniors' hostel rooms.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3. Why don't seniors sell or lend them? Informal posting on social media is cumbersome and unorganized.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4. Why are chat groups inefficient? No search filters, item categories, or availability tracking.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5. Root Cause: Lack of a dedicated, campus-verified web portal facilitating discovery and peer handover.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How Might We (HMW) Question: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'How might we connect junior and senior students for safe, verified, zero-commission exchange of academic resources at designated campus landmarks?'</a:t>
            </a:r>
          </a:p>
        </p:txBody>
      </p:sp>
      <p:sp>
        <p:nvSpPr>
          <p:cNvPr id="259" name="Rounded Rectangle 258"/>
          <p:cNvSpPr/>
          <p:nvPr/>
        </p:nvSpPr>
        <p:spPr>
          <a:xfrm>
            <a:off x="18500000" y="5800000"/>
            <a:ext cx="16500000" cy="72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3: SOLVE &amp; KEY FEATURES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Multi-Tier Exchange Mechanism: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Borrow (Free): 1-semester loan with return guarantee (e.g. Higher Engg Math).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Rent (Low-Cost): Weekly rentals (₹20-50/wk) for exam prep (e.g. Casio fx-991).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Buy (75% Off): Permanent transfer at deep discount (e.g. Mini Drafters, CLRS).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Verified Campus Security: Restricted to @learner.manipal.edu credentials.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Zero Courier Delay: Handovers coordinated at Central Library &amp; Food Court.</a:t>
            </a:r>
          </a:p>
        </p:txBody>
      </p:sp>
      <p:sp>
        <p:nvSpPr>
          <p:cNvPr id="260" name="Rounded Rectangle 259"/>
          <p:cNvSpPr/>
          <p:nvPr/>
        </p:nvSpPr>
        <p:spPr>
          <a:xfrm>
            <a:off x="18500000" y="14500000"/>
            <a:ext cx="16500000" cy="125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PHASE 4: PROTOTYPE 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Interactive Web Application Built with Semantic HTML5, CSS3 &amp; ES6+ JS.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Key Prototype Modules: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Live Search &amp; Category Filtering (Textbooks, Calculators, Lab Coats, Dev Boards).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Instant Mode Switcher (All / Borrow / Rent / Buy).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Listing Creator Modal: Seniors publish items in 30 seconds with photos &amp; pickup spots.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Automated Peer Request Modal: Notifies lender with suggested handover meeting.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✔ Sustainability Tracking: Recirculates idle items and protects pocket money with 0% platform fee.</a:t>
            </a:r>
          </a:p>
        </p:txBody>
      </p:sp>
      <p:pic>
        <p:nvPicPr>
          <p:cNvPr id="261" name="Picture 26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000000" y="21500000"/>
            <a:ext cx="15500000" cy="5200000"/>
          </a:xfrm>
          <a:prstGeom prst="rect">
            <a:avLst/>
          </a:prstGeom>
        </p:spPr>
      </p:pic>
      <p:sp>
        <p:nvSpPr>
          <p:cNvPr id="262" name="Rounded Rectangle 261"/>
          <p:cNvSpPr/>
          <p:nvPr/>
        </p:nvSpPr>
        <p:spPr>
          <a:xfrm>
            <a:off x="18500000" y="28500000"/>
            <a:ext cx="16500000" cy="68000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 rIns="182880" bIns="182880"/>
          <a:lstStyle/>
          <a:p>
            <a:pPr algn="ctr">
              <a:spcAft>
                <a:spcPts val="1200"/>
              </a:spcAft>
              <a:defRPr sz="2200" b="1">
                <a:solidFill>
                  <a:srgbClr val="2563EB"/>
                </a:solidFill>
              </a:defRPr>
            </a:pPr>
            <a:r>
              <a:t>OUTCOME &amp; IMPACT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Peer Walkthrough &amp; Thematic Validation: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Zero-Knowledge Safety: Female hostel students praised complete concealment of phone numbers &amp; room details.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On-Spot UPI Trust: Direct scan-and-pay eliminates fear of advance app escrow lock-in.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  • Transparent Fixed Pricing: Freshers confirmed total relief from opaque 'DM for price' culture.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Campus Impact: Prevents recurring spending on 1-semester gear and recirculates idle resources within MIT Bengaluru.</a:t>
            </a:r>
          </a:p>
          <a:p>
            <a:pPr>
              <a:spcAft>
                <a:spcPts val="800"/>
              </a:spcAft>
              <a:defRPr sz="1500">
                <a:solidFill>
                  <a:srgbClr val="0F172A"/>
                </a:solidFill>
              </a:defRPr>
            </a:pPr>
            <a:r>
              <a:t>•  Future Roadmap: WhatsApp Cloud API alerts, campus locker integration, and library reserve sync.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</TotalTime>
  <Words>84</Words>
  <Application>Microsoft Office PowerPoint</Application>
  <PresentationFormat>Custom</PresentationFormat>
  <Paragraphs>14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0" baseType="lpstr">
      <vt:lpstr>Georgia</vt:lpstr>
      <vt:lpstr>Tahoma</vt:lpstr>
      <vt:lpstr>Helvetica Neue</vt:lpstr>
      <vt:lpstr>Noto Sans Symbols</vt:lpstr>
      <vt:lpstr>Trebuchet MS</vt:lpstr>
      <vt:lpstr>Times New Roman</vt:lpstr>
      <vt:lpstr>Arial</vt:lpstr>
      <vt:lpstr>Comic Sans MS</vt:lpstr>
      <vt:lpstr>Default Design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india</dc:creator>
  <cp:lastModifiedBy>Vandana Jha [MAHE-MITBLR]</cp:lastModifiedBy>
  <cp:revision>22</cp:revision>
  <dcterms:created xsi:type="dcterms:W3CDTF">2020-07-26T16:54:19Z</dcterms:created>
  <dcterms:modified xsi:type="dcterms:W3CDTF">2026-10-01T10:54:29Z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1033-11.2.0.9453</vt:lpwstr>
  </property>
</Properties>
</file>