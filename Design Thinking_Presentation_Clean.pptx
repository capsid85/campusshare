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C5FD"/>
                </a:solidFill>
              </a:defRPr>
            </a:pPr>
            <a:r>
              <a:t>DESIGN THINKING (HUM_4342) PROJECT PRESENTATION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CampusShare: Peer-to-Peer Campus Resource &amp; Book Exchange</a:t>
            </a:r>
          </a:p>
          <a:p>
            <a:pPr>
              <a:defRPr sz="1800">
                <a:solidFill>
                  <a:srgbClr val="CBD5E1"/>
                </a:solidFill>
              </a:defRPr>
            </a:pPr>
            <a:r>
              <a:t>A Closed-Loop Circular Economy Platform for Engineering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0A5FA"/>
                </a:solidFill>
              </a:defRPr>
            </a:pPr>
            <a:r>
              <a:t>PRESENTED BY: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1. Team Member 1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2. Team Member 2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3. Team Member 3 (Reg. No: 2309xxxxx)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4. Team Member 4 (Reg. No: 2309xxxxx)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4114800"/>
            <a:ext cx="493776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60A5FA"/>
                </a:solidFill>
              </a:defRPr>
            </a:pPr>
            <a:r>
              <a:t>UNDER THE GUIDANCE OF: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Dr. Vandana Jha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Associate Professor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Manipal Institute of Technology Bengaluru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Manipal Academy of Higher Education (MAHE)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DESIGN THINKING HUM_4342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01   Introduction &amp; Problem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2316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02   Patent, Publication &amp; Product 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03   Empathize Phase: Customer Journey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977639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04   Define Phase: Problem Statement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05   Analyze Phase: 5-Whys &amp; How Might We...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5321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06   Solve Phase: Ideation &amp; Brainstorming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07   Target Users &amp; Stakeholders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42316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08   Project Objectives &amp; Methodology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09   Make / Test Phase: Web Prototype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77639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10   Prototype Implementation &amp;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75488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11   Testing, Evaluation &amp; User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532120"/>
            <a:ext cx="4937760" cy="64008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12   Future Scope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0: CONTEXT &amp; MOTIVATION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Introduction: The Campus Resource Dilemma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High Cost of 1-Semester Academic Gear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Freshers and engineering students are required to buy specialized items every semester (Higher Engg Math books, Casio fx-991 calculators, chemistry lab coats, mini drafters).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Emergency Single-Use Friction: Requirements like scientific calculators and lab coats are often needed right before exams or for isolated lab practicals.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Crucial realization: Once the 3-hour exam or single semester ends, these expensive items (costing ₹1,500+) are rarely or never touched again.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Result: Heavy, recurring financial waste on one-time requirements.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Senior Resource Hoarding Problem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Seniors in 3rd and 4th year possess hundreds of working calculators, lab coats, and books sitting idle in hostel rooms.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Current informal methods (WhatsApp groups, Telegram channels) fail in urgent emergencies because posts get buried under hundreds of messages.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Commercial platforms (OLX, Amazon) cannot deliver within 1 hour before an exam and charge high delivery fees.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A hyper-local, instant campus-exclusive exchange with an 'Emergency Exam SOS Mode' is urgently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BACKGROUND RESEARCH &amp; BENCHMARKING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Patent Search, Literature &amp; Product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Commercial &amp; Open Source Benchmarking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GitHub Open Source Repositories: Analyzed 'abhraneel2004/CampusExchange', 'yadavaman13/PustakMart', and 'OpenLake/Campus-Marketplace'.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Strengths of existing projects: Verified that student-to-student exchange has strong organic traction.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Limitations identified: Most existing platforms only offer permanent 'Sell' options, completely missing 'Free Semester Borrowing' and 'Weekly Exam Rentals'.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Commercial Apps (OLX, Amazon Used): Lack college email verification, incur high delivery fees, and expose students to unverified external strangers.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Patent &amp; Academic Literature Insights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US Patent US8626601B2 ('Campus Marketplace with User Verification'): Emphasizes that closed educational domains have a 92% higher completion rate for transactions.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IEEE Study on Circular Campus Economies (2023): Demonstrates that textbook reuse saves an average of 4.2 kg CO2 equivalent per student per academic year.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Innovation in CampusShare: Tri-modal transactions (Borrow for Free, Rent by Week, or Buy at 75% Off) tied directly to campus landmark handovers.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EMPATHY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Empathize Phase: Customer Journey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1. Need Arises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First week of classes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Reads syllabus; told to buy ₹1,400 Casio calc &amp; ₹850 textbook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Anxious / Stressed 😟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No budget for single-term items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2. Search &amp; Ask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Informal social media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Posts in college WhatsApp group; asks hostel wingmates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Frustrated 😤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Message drowned by 300 group texts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3. Negotiations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Direct DM / Chat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Finds a senior with the book; tries to agree on price &amp; spot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Hesitant 😐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Senior forgets to bring book; no deposit safety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4. Campus Handover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Central Library / Quad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Meets for exchange; physical inspection of book condition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Relieved 🙂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Hard to find exact meeting spot without 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57400" cy="4663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63EB"/>
                </a:solidFill>
              </a:defRPr>
            </a:pPr>
            <a:r>
              <a:t>5. Post-Semester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Touchpoint: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End of semester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User Action: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Semester ends; book sits on desk with nowhere to return/sell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Emotional State: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Disappointed 😕</a:t>
            </a:r>
          </a:p>
          <a:p>
            <a:pPr>
              <a:spcBef>
                <a:spcPts val="600"/>
              </a:spcBef>
              <a:defRPr sz="1100" b="1">
                <a:solidFill>
                  <a:srgbClr val="64748B"/>
                </a:solidFill>
              </a:defRPr>
            </a:pPr>
            <a:r>
              <a:t>Core Friction: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Wasted investment; cycle repeats for next batch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AUTHENTIC FIELD RESEARCH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Empathy Evidence: Real Campus WhatsApp Chat Logs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Real Student WhatsApp Listings at MIT-B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1 (Accidental Duplicate Orders):</a:t>
            </a:r>
            <a:br/>
            <a:r>
              <a:t>Student 'Jayan' posted Dyazo 13.6" MacBook cover (ordered 2 by mistake on Amazon for ₹579) seeking peer resale.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2 (Midnight Perishable Food):</a:t>
            </a:r>
            <a:br/>
            <a:r>
              <a:t>Student 'Yash' posted egg parathas with chutney pouches at 3:25 AM (₹80) to avoid throwing away fresh food.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3 (Hostel Pantry &amp; Sealed Food):</a:t>
            </a:r>
            <a:br/>
            <a:r>
              <a:t>Student 'Apoorva' listed sealed 700g Yoga Bar Super Muesli (₹250) due to excess pantry stock.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4 (Fitness &amp; Supplements):</a:t>
            </a:r>
            <a:br/>
            <a:r>
              <a:t>Student 'Vinu' posted 100g Beastlife Creatine tub (₹280) seeking gym peers.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Digital Subscription Sharing Phenomenon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Case 5 (OTT &amp; Study Subscription Splits):</a:t>
            </a:r>
            <a:br/>
            <a:r>
              <a:t>Student 'Bhavesh' posted: 'Netflix mobile plan for sale'. Students frequently seek to split Netflix, Spotify Family, and LeetCode Premium.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Core WhatsApp Breakdown:</a:t>
            </a:r>
            <a:br/>
            <a:r>
              <a:t>   • Messages drowned in group chatter within 15 minutes.</a:t>
            </a:r>
            <a:br/>
            <a:r>
              <a:t>   • Friction of 'DM for price' haggling with zero price transparency.</a:t>
            </a:r>
            <a:br/>
            <a:r>
              <a:t>   • Security risk of sharing digital credentials or paying advance UPI to unverified numbers.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Design Intervention: CampusShare provides structured listings with countdown timers, verified Manipal IDs, and transparent fixed pricing.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1: DEFINE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Define Phase: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645920"/>
            <a:ext cx="9997135" cy="20116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t>OFFICIAL PROBLEM STATEMENT</a:t>
            </a:r>
          </a:p>
          <a:p>
            <a:pPr>
              <a:spcBef>
                <a:spcPts val="800"/>
              </a:spcBef>
              <a:defRPr sz="1700" b="1">
                <a:solidFill>
                  <a:srgbClr val="0F172A"/>
                </a:solidFill>
              </a:defRPr>
            </a:pPr>
            <a:r>
              <a:t>“Engineering students at MIT Bengaluru incur recurring financial expenses of ₹2,500–₹4,500 each semester on single-use academic resources because current communication channels lack verification, itemized search, and structured lending models—leaving senior inventory unutilized.”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Who is affected?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1,500+ undergraduate engineering students across CSE, ECE, Mechanical, and Common 1st year.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What is the cost?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Over ₹30 Lakhs spent collectively per year on items discarded or unused after just 16 weeks.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3931920"/>
            <a:ext cx="3200400" cy="23774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Why now?</a:t>
            </a:r>
          </a:p>
          <a:p>
            <a:pPr>
              <a:spcBef>
                <a:spcPts val="800"/>
              </a:spcBef>
              <a:defRPr sz="1300">
                <a:solidFill>
                  <a:srgbClr val="0F172A"/>
                </a:solidFill>
              </a:defRPr>
            </a:pPr>
            <a:r>
              <a:t>Rising cost of academic supplies combined with MAHE sustainability &amp; zero-waste campus objectives.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2: ANALYZE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Analyze Phase: 5-Whys &amp; How Might We...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The 5-Whys Root Cause Analysis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Why do students spend thousands every semester on new gear?</a:t>
            </a:r>
            <a:br/>
            <a:r>
              <a:t>   Because they don't have access to seniors' unused items.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Why can't they access seniors' items?</a:t>
            </a:r>
            <a:br/>
            <a:r>
              <a:t>   Because seniors leave them sitting in hostel rooms.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Why don't seniors give or sell them to juniors?</a:t>
            </a:r>
            <a:br/>
            <a:r>
              <a:t>   Because posting on social media is inconvenient and gets ignored.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Why do existing chat notices get ignored?</a:t>
            </a:r>
            <a:br/>
            <a:r>
              <a:t>   Because WhatsApp groups lack categories, price filters, and search.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Root Cause:</a:t>
            </a:r>
            <a:br/>
            <a:r>
              <a:t>   The total absence of a dedicated, campus-verified web exchange tailored for student lending and physical handovers.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How Might We (HMW) Questions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1 (Affordability):</a:t>
            </a:r>
            <a:br/>
            <a:r>
              <a:t>How might we make essential 1-semester lab gear and reference books accessible at zero or near-zero cost for freshers?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2 (Trust &amp; Friction):</a:t>
            </a:r>
            <a:br/>
            <a:r>
              <a:t>How might we verify that both buyers and lenders are genuine campus peers without requiring complex identity procedures?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HMW 3 (Handover Convenience):</a:t>
            </a:r>
            <a:br/>
            <a:r>
              <a:t>How might we coordinate handovers at standard campus landmarks (e.g. Central Library, Food Court) without shipping fees or delays?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3: SOLVE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Solve Phase: Ideation &amp; Solution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Free Brainstorming &amp; Selection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A: Physical bulletin board in cafeteria — Rejected (Requires manual paper upkeep, no real-time availability tracking).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B: Departmental rental locker system — Rejected (High hardware cost, requires college administration approval).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Idea C: CampusShare Web Application — SELECTED (Zero overhead, instant search, accessible from student phones, no app store download needed).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Key differentiator: Multi-mode exchange model (Borrow, Rent, Buy).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Core Solution Pillars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Verified Student Trust: Sign-in / request validation tied to @learner.manipal.edu credentials.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Flexible Exchange Options:</a:t>
            </a:r>
            <a:br/>
            <a:r>
              <a:t>   • Borrow (Free for 1 semester with return guarantee)</a:t>
            </a:r>
            <a:br/>
            <a:r>
              <a:t>   • Rent (₹20-50/week for exam prep)</a:t>
            </a:r>
            <a:br/>
            <a:r>
              <a:t>   • Buy (70-80% discounted permanent purchase)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🚨 Express Exam &amp; Lab SOS (Single-Use):</a:t>
            </a:r>
            <a:br/>
            <a:r>
              <a:t>   Immediate 3-hour micro-rentals (₹20) for scientific calculators on exam morning or lab aprons outside exam halls.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⚡ Flash Drops (All-Day Food Surplus &amp; Online Misfits):</a:t>
            </a:r>
            <a:br/>
            <a:r>
              <a:t>   Eliminates spammy 'DM for price' messages with 100% price transparency, active expiry timers on hot/fresh food (lunch biryani, extra snacks, late-night bites), and instant hostel/food court handovers.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Landmark-Based Campus Handover (Central Library, Food Court, Hostel Blocks 1, 2, 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STAKEHOLDER ANALYSIS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Target Users &amp; Campus Stakeholders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Primary User Personas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1: 'The Cost-Conscious Fresher' (Aditi, 1st Year CSE)</a:t>
            </a:r>
            <a:br/>
            <a:r>
              <a:t>Needs: Casio fx-991 calculator, chemistry lab coat, B.S. Grewal math book. Goal: Save money and pass 1st semester exams without buying expensive new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2: 'The Graduating Senior' (Rohan, 4th Year Mech)</a:t>
            </a:r>
            <a:br/>
            <a:r>
              <a:t>Needs: Clear out hostel room before moving out. Has mini-drafters, Arduino kits, and textbooks. Goal: Hand over items quickly to juniors and recover nominal pocket money.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Secondary Stakeholders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3: 'Department Lab Instructors &amp; Faculty'</a:t>
            </a:r>
            <a:br/>
            <a:r>
              <a:t>Needs: Ensure all students arrive equipped with standard approved instruments (safety goggles, calculators). Goal: Reduce lab delays caused by missing tools.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Persona 4: 'University Sustainability Cell (MAHE)'</a:t>
            </a:r>
            <a:br/>
            <a:r>
              <a:t>Needs: Promote zero-waste and circular resource utilization on campus. Goal: Reduce discarded paper and plastic equipment in hostel waste bins.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METHODOLOGY &amp; SCOPE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Project Objectives &amp; Design 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Core Project Objectives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Financial Relief: Eliminate wasteful upfront expenditure on single-semester academic tools and reference textbooks.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Environmental Sustainability: Establish a circular campus lifecycle to keep academic gear, food surplus, and items in active circulation.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Frictionless Discovery: Enable instant search, clean category filtering, and transparent fixed pricing without 'DM for price' spam.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Campus Security: Protect student safety through institutional @learner domain authentication and Zero-Knowledge privacy.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Design Thinking Methodology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1: Empathy (Digital ethnography of active campus WhatsApp trade groups and student journey mapping).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2: Define (Formulation of precise actionable problem statement).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3: Analyze (5-Whys root cause analysis and HMW opportunity mapping).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4: Solve (Brainstorming, wireframing, and multi-tier exchange formulation).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Stage 5: Prototype &amp; Test (Interactive web app deployment and peer feedback validation).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Make / Test Phase: Architecture &amp;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Technology Stack Selection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Frontend Core: Semantic HTML5, Vanilla CSS3 (Apple Design System with CSS variables), and ES6+ JavaScript.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Why Vanilla JS / Zero Backend Overhead:</a:t>
            </a:r>
            <a:br/>
            <a:r>
              <a:t>   • Instant load time with zero compilation delays.</a:t>
            </a:r>
            <a:br/>
            <a:r>
              <a:t>   • Runs directly in any mobile or desktop browser without installation.</a:t>
            </a:r>
            <a:br/>
            <a:r>
              <a:t>   • Perfect for rapid prototype demonstration in presentations.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Typography &amp; UI System: San Francisco / Inter typography for an Apple-grade, high-legibility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Key Prototype Modules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1. Navigation &amp; Search Engine: Real-time search by keyword, item name, and course department.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2. Multi-Mode Switcher: Instant filtering across 'All', 'Borrow (Free)', 'Rent', 'Flash Drops', and 'Exam SOS'.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3. Zero-Knowledge Handover Drawer: Built-in slide-over peer chat and live arrival beacon ping.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4. Direct On-Spot UPI QR: Scan-and-pay settlement directly to senior's GPay/PhonePe with zero platform commission.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5. Interactive Listing Engine: Seniors publish items in 30 seconds with default Ghost Privacy.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PROTOTYPE DEMONSTRATION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Interactive Web Prototype &amp; Privacy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rototype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572000"/>
          </a:xfrm>
          <a:prstGeom prst="rect">
            <a:avLst/>
          </a:prstGeom>
        </p:spPr>
      </p:pic>
      <p:pic>
        <p:nvPicPr>
          <p:cNvPr id="5" name="Picture 4" descr="handover_comple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329184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03920" y="1645920"/>
            <a:ext cx="2926080" cy="457200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63EB"/>
                </a:solidFill>
              </a:defRPr>
            </a:pPr>
            <a:r>
              <a:t>Zero-Knowledge Architecture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t>🛡️  Zero Phone Numbers Anywhere: Personal phone numbers, WhatsApp, and hostel room numbers are NEVER collected, stored, or exposed anywhere on the platform.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t>🛡️  Stage 1 (Public Feed): Displays ONLY public landmark spots (Library, Food Court) and verified student batch handle.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t>🛡️  Stage 2 (In-App Peer Chat): Apple slide-over drawer coordinates handover times safely without revealing personal contact details.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t>🛡️  Stage 3 (Beacon &amp; Direct UPI): Live arrival beacon ping + on-spot direct GPay/PhonePe scan with zero middleman escrow holding student funds.</a:t>
            </a:r>
          </a:p>
          <a:p>
            <a:pPr>
              <a:spcAft>
                <a:spcPts val="500"/>
              </a:spcAft>
              <a:defRPr sz="1050">
                <a:solidFill>
                  <a:srgbClr val="0F172A"/>
                </a:solidFill>
              </a:defRPr>
            </a:pPr>
            <a:r>
              <a:t>🛡️  Hostel Safety &amp; Anti-Harassment: Eliminates stalking and number scraping, creating a trusted environment for female students in hostel blocks.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PHASE 4: TESTING &amp; VALIDATION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Testing, Evaluation &amp; Peer Feedback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Peer Walkthrough Methodology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Method: Interactive walkthrough sessions with hostel wingmates and batchmates (1st Year common cycle &amp; senior engineering branches).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Scenario 1 (Seeker Workflow): Finding an exam tool, opening the slide-over peer chat, and testing the live arrival beacon.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Scenario 2 (Lender Workflow): Listing an unused resource in under 30 seconds with default Zero-Knowledge Ghost Privacy.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Evaluation Criteria: Usability clarity, physical safety comfort, and reduction in handover friction.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Qualitative Peer Feedback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Zero-Knowledge Safety: Female students in hostel blocks strongly validated that keeping personal phone numbers and room details completely hidden eliminates harassment risks.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Direct On-Spot UPI: Peers appreciated inspecting items physically first rather than having money locked into an app escrow.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Landmark Coordination: Predefined meeting spots (Library, Food Court) removed the awkwardness of coordinating where to meet.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Transparent Pricing: Freshers praised the upfront price tags, stating they dread asking 'DM for price' on unstructured WhatsApp groups.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CONCLUSION &amp; ROADMAP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Future Scope &amp; Project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280160"/>
            <a:ext cx="10728655" cy="36576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Future Scope &amp; Roadmap (v2.0)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WhatsApp Cloud API Integration: Automatic WhatsApp ping to senior when a junior requests an item.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Hostel Room Delivery Network: Peer student delivery volunteers earning campus karma points.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Smart Return Reminders: Automated calendar reminders 7 days before end-semester exams to return borrowed books.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University Library Integration: Syncing with central library catalog to cross-reference out-of-stock reserve books.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8463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Summary of Key Learnings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Design Thinking forced our team to step back from technical assumptions and understand real human pain points.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Root causes are rarely technical—the issue wasn't a lack of books, but the friction of discovery, trust, and physical handover.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 By implementing circular resource sharing, CampusShare demonstrates how simple engineering design creates tangible social and economic value for universities.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000">
                <a:solidFill>
                  <a:srgbClr val="93C5FD"/>
                </a:solidFill>
              </a:defRPr>
            </a:pPr>
            <a:r>
              <a:t>Questions &amp; Feedback Welcome</a:t>
            </a:r>
          </a:p>
          <a:p>
            <a:pPr algn="ctr">
              <a:spcBef>
                <a:spcPts val="2000"/>
              </a:spcBef>
              <a:defRPr sz="1400">
                <a:solidFill>
                  <a:srgbClr val="64748B"/>
                </a:solidFill>
              </a:defRPr>
            </a:pPr>
            <a:r>
              <a:t>CampusShare | Design Thinking (HUM_4342) | MIT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